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entium Book Plus" panose="020B0604020202020204" charset="0"/>
      <p:regular r:id="rId11"/>
    </p:embeddedFont>
    <p:embeddedFont>
      <p:font typeface="Gentium Book Plus Bold" panose="020B0604020202020204" charset="0"/>
      <p:regular r:id="rId12"/>
    </p:embeddedFont>
    <p:embeddedFont>
      <p:font typeface="Libre Caslon Text" panose="020B0604020202020204" charset="0"/>
      <p:regular r:id="rId13"/>
    </p:embeddedFont>
    <p:embeddedFont>
      <p:font typeface="Libre Caslon Text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75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DD09-DD41-4C98-4708-CCC8DB5E2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216E1-3BEF-82DB-6351-3A5991FC3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3BC9-2AE4-32D1-869E-4285FD4A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B3752-BA58-6EF2-0450-8942408E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2FF49-D1F3-2E3D-9A18-FDBB516F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3386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8A4C-F1A4-AAAE-EA07-28762915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AD36-B6DC-7FAA-E962-935843A7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97262-DEE5-805C-D6D6-731FC5F8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6585-3E43-76A0-584B-0C9B882E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AFC63-C2EB-E4D9-7D7F-4FE59149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4678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AC5B-0C07-8F74-1B1C-70EE990A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3A07A-40A9-5F81-C983-433B7F348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0638E-B5B1-0DAA-9AC9-D9222F1E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AF319-630B-705E-AB31-B4CE9EB7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268AA-1AE9-94E1-1334-B3AAC4B3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4581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4FA3-CD06-C84A-5CE0-8CFB157D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AABBD-05C4-5288-7D8E-FFE99F60E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AA569-707D-0A61-8EA9-0F5E061C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7DC6F-4819-EC40-0FD6-E7C644E4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D68E3-3DDB-EBDE-38D1-497B6F348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2AEFE-24BB-CE5B-6B34-78847B13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274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D2A1-7259-1276-A164-5A08918A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35C09-5202-3512-A1A0-6EEDC2BBF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64895-8534-47A6-536B-82C893924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F53CA4-2C66-A357-9F67-D35634D1E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27A17-E6D2-1CCD-B1C9-1BB5992D2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01E8A-97D8-3B80-4DA5-A9DD68215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C5AF8-9B2E-64C6-0BC0-81B0E369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0A5E6-E06F-3B21-E4AF-50C3130F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784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E8C6-2AD2-B788-2DC5-1FBAA6E0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A3BEC-E353-8F0A-2E83-FCA7AA66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A3424-81CF-35A4-3D5A-CF8AE9A5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248F4-8BBB-F78F-01D0-1739C40C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06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CCF07-12A2-BB84-1F43-7CC75E87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9D353-B115-408B-902C-B113758A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06DBE-CE1C-9DF9-3FA9-82C01338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9314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D474-F07A-E67E-785C-0B6B40C1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28F6-1D80-5EB9-CE90-7C1474D75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5CED7-7D96-111C-D6A5-372B10E97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71B8E-4D2D-A561-8A20-281A3329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90D92-4582-DBE9-7CF9-007F04C9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5C520-422C-3DE6-1454-FF93EA90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1980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A141-22D6-D9B5-1573-0BDF3444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33C39-7AF6-3540-6059-5EE87A7E4C1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2A324-6A24-B326-DECD-F803B36B5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E0BFD-F131-98BD-7857-E92270FC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1132B-DE12-91EB-4381-9D2F9C2A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E95E6-6369-1869-6F57-9638D223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9999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7077-AC9F-305B-B3FD-C0F3CB58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F3FCD-11E2-BA49-C19F-15068E806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DD4AB-804B-0CA2-93DA-81B3DDA91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9216-63F9-2147-8E02-A1A76AC4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6F61B-9325-893D-8352-ACB78015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2561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0C2D0-BF54-4BB0-DA45-C4001EF3E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DEB1A-4C12-D1B0-28EE-ABD4B0497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26D02-21CC-9468-4C7A-07C0A443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F6D28-D408-BACF-F15C-8CDDAF6F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0CB1E-3648-9A46-02BF-C5696E19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551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05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10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6737C-ED50-4E1E-F731-B4AEC3A2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B2C59-7775-B70E-4DA1-8FD478B4A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6A511-778D-565D-B8AE-2BC23CCA5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283F6-1643-4733-B36A-35E9AEB97D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FF1F-9546-6BAE-AD73-3C0904C06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07A50-CA86-1B91-4885-93503F647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D9183-0DDD-4A0E-B663-AF7E1DCDB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40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533400"/>
            <a:ext cx="3189406" cy="355402"/>
          </a:xfrm>
          <a:prstGeom prst="roundRect">
            <a:avLst>
              <a:gd name="adj" fmla="val 24013"/>
            </a:avLst>
          </a:prstGeom>
          <a:solidFill>
            <a:srgbClr val="3B1812"/>
          </a:solidFill>
          <a:ln/>
        </p:spPr>
      </p:sp>
      <p:sp>
        <p:nvSpPr>
          <p:cNvPr id="3" name="Text 1"/>
          <p:cNvSpPr/>
          <p:nvPr/>
        </p:nvSpPr>
        <p:spPr>
          <a:xfrm>
            <a:off x="660284" y="630138"/>
            <a:ext cx="349439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CA-2 · DEEP LEARNING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87" y="1337112"/>
            <a:ext cx="721342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B.TECH CSIT · GENERATIVE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1704073"/>
            <a:ext cx="6705432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0"/>
              </a:rPr>
              <a:t>Conditional Image</a:t>
            </a:r>
            <a:endParaRPr lang="en-US" sz="60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0"/>
              </a:rPr>
              <a:t>Generation Using cGAN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7987" y="4276804"/>
            <a:ext cx="6705432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Class-Controlled Handwritten Digit Generation Using Deep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87" y="5178028"/>
            <a:ext cx="6705432" cy="1152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Student name(s): Priyansh Jaiswal(202401100500133)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                               Mohit Jaiswal(202401100500108)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Section: B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Institution: KIET deemed to be university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Stack: Python, PyTorch, Torchvision, Google Colab · Dataset: MNIST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21407" y="0"/>
            <a:ext cx="4470288" cy="6864350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9" name="Text 7"/>
          <p:cNvSpPr/>
          <p:nvPr/>
        </p:nvSpPr>
        <p:spPr>
          <a:xfrm>
            <a:off x="8153196" y="3376652"/>
            <a:ext cx="40384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PROJECT AIM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53196" y="3688715"/>
            <a:ext cx="360671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Generate a target class on demand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53196" y="4655066"/>
            <a:ext cx="360671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This project implements a Conditional GAN that generates synthetic handwritten digit images based on a user-specified class label.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53196" y="6030079"/>
            <a:ext cx="3606710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Illustrative 0–9 conditioning field · replace with trained outputs when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68935"/>
            <a:ext cx="116583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01 · 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3387" y="696324"/>
            <a:ext cx="11124922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20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cGAN adds control to image generation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3387" y="1495028"/>
            <a:ext cx="1165830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The label becomes part of the generation task, not a guess made after the image is produced.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3387" y="2077641"/>
            <a:ext cx="4907137" cy="3271838"/>
          </a:xfrm>
          <a:prstGeom prst="roundRect">
            <a:avLst>
              <a:gd name="adj" fmla="val 3260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978" y="2407841"/>
            <a:ext cx="1757021" cy="355402"/>
          </a:xfrm>
          <a:prstGeom prst="roundRect">
            <a:avLst>
              <a:gd name="adj" fmla="val 24013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1275" y="2504579"/>
            <a:ext cx="206201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STANDARD GAN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78" y="3002320"/>
            <a:ext cx="419595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Randomness first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78" y="3573760"/>
            <a:ext cx="419595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Random noise </a:t>
            </a:r>
            <a:r>
              <a:rPr lang="en-US" sz="2000" dirty="0">
                <a:solidFill>
                  <a:srgbClr val="35D4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z</a:t>
            </a: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is mapped to an image. The model does not directly specify which digit class should appear.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8978" y="4797088"/>
            <a:ext cx="455154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Noise → generated image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45217" y="3468747"/>
            <a:ext cx="701161" cy="4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800" dirty="0">
                <a:solidFill>
                  <a:srgbClr val="35D4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751072" y="2077641"/>
            <a:ext cx="4907237" cy="3271838"/>
          </a:xfrm>
          <a:prstGeom prst="roundRect">
            <a:avLst>
              <a:gd name="adj" fmla="val 3260"/>
            </a:avLst>
          </a:prstGeom>
          <a:solidFill>
            <a:srgbClr val="11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081263" y="2382441"/>
            <a:ext cx="2035124" cy="355402"/>
          </a:xfrm>
          <a:prstGeom prst="roundRect">
            <a:avLst>
              <a:gd name="adj" fmla="val 24013"/>
            </a:avLst>
          </a:prstGeom>
          <a:solidFill>
            <a:srgbClr val="3B1812"/>
          </a:solidFill>
          <a:ln/>
        </p:spPr>
      </p:sp>
      <p:sp>
        <p:nvSpPr>
          <p:cNvPr id="14" name="Text 12"/>
          <p:cNvSpPr/>
          <p:nvPr/>
        </p:nvSpPr>
        <p:spPr>
          <a:xfrm>
            <a:off x="7233560" y="2479179"/>
            <a:ext cx="234011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CONDITIONAL GAN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1263" y="2976920"/>
            <a:ext cx="424685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Label-guided synthesis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81263" y="3548360"/>
            <a:ext cx="424685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Noise </a:t>
            </a:r>
            <a:r>
              <a:rPr lang="en-US" sz="2000" dirty="0">
                <a:solidFill>
                  <a:srgbClr val="35D4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z</a:t>
            </a: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and class label y jointly guide the generator toward a target-class image.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81263" y="4771688"/>
            <a:ext cx="4577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Noise + class label → target-class image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705078"/>
            <a:ext cx="12191695" cy="1152922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33387" y="5884466"/>
            <a:ext cx="111249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Objectives.</a:t>
            </a: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Implement a PyTorch cGAN, train on MNIST, generate labels 0–9, and evaluate image quality together with class consistency.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94335"/>
            <a:ext cx="492747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02 ·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591" y="714374"/>
            <a:ext cx="4571886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b="1" kern="100" spc="-16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MNIST turns conditioning into a measurable task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55591" y="2316857"/>
            <a:ext cx="457188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One of ten handwritten digit classes is the target for each generated image.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55591" y="3255070"/>
            <a:ext cx="2669314" cy="355402"/>
          </a:xfrm>
          <a:prstGeom prst="roundRect">
            <a:avLst>
              <a:gd name="adj" fmla="val 24013"/>
            </a:avLst>
          </a:prstGeom>
          <a:solidFill>
            <a:srgbClr val="3B1812"/>
          </a:solidFill>
          <a:ln/>
        </p:spPr>
      </p:sp>
      <p:sp>
        <p:nvSpPr>
          <p:cNvPr id="7" name="Text 5"/>
          <p:cNvSpPr/>
          <p:nvPr/>
        </p:nvSpPr>
        <p:spPr>
          <a:xfrm>
            <a:off x="507888" y="3351808"/>
            <a:ext cx="29743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VERIFIED DATASET FACTS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5591" y="3839071"/>
            <a:ext cx="4571886" cy="161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60,000 training images</a:t>
            </a:r>
            <a:endParaRPr lang="en-US" sz="2000" dirty="0"/>
          </a:p>
          <a:p>
            <a:pPr marL="406400" indent="-40640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10,000 test images</a:t>
            </a:r>
            <a:endParaRPr lang="en-US" sz="2000" dirty="0"/>
          </a:p>
          <a:p>
            <a:pPr marL="406400" indent="-40640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28 × 28 grayscale pixels</a:t>
            </a:r>
            <a:endParaRPr lang="en-US" sz="2000" dirty="0"/>
          </a:p>
          <a:p>
            <a:pPr marL="406400" indent="-40640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Ten classes: 0 through 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14857" y="343535"/>
            <a:ext cx="647683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REAL MNIST SAMPLE STRIP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91360" y="5451971"/>
            <a:ext cx="647683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PREPROCESSING FLOW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91360" y="5654500"/>
            <a:ext cx="60450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Torchvision: Load MNIST → Tensor: Convert samples → Normalize: Scale to [-1, 1] → Condition: Labels 0–9 → Batch: Shuffle mini-batches.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EBB79A-E0F8-FF25-0F9B-E38F8DD31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59" y="607655"/>
            <a:ext cx="5957807" cy="45926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41935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03 · MODEL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561974"/>
            <a:ext cx="1117572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b="1" kern="100" spc="-16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Both networks learn from the class label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252637"/>
            <a:ext cx="5511662" cy="2840038"/>
          </a:xfrm>
          <a:prstGeom prst="roundRect">
            <a:avLst>
              <a:gd name="adj" fmla="val 3756"/>
            </a:avLst>
          </a:prstGeom>
          <a:solidFill>
            <a:srgbClr val="111A2E"/>
          </a:solidFill>
          <a:ln/>
        </p:spPr>
      </p:sp>
      <p:sp>
        <p:nvSpPr>
          <p:cNvPr id="5" name="Shape 3"/>
          <p:cNvSpPr/>
          <p:nvPr/>
        </p:nvSpPr>
        <p:spPr>
          <a:xfrm>
            <a:off x="660383" y="1405037"/>
            <a:ext cx="1590834" cy="355402"/>
          </a:xfrm>
          <a:prstGeom prst="roundRect">
            <a:avLst>
              <a:gd name="adj" fmla="val 24013"/>
            </a:avLst>
          </a:prstGeom>
          <a:solidFill>
            <a:srgbClr val="3B1812"/>
          </a:solidFill>
          <a:ln/>
        </p:spPr>
      </p:sp>
      <p:sp>
        <p:nvSpPr>
          <p:cNvPr id="6" name="Text 4"/>
          <p:cNvSpPr/>
          <p:nvPr/>
        </p:nvSpPr>
        <p:spPr>
          <a:xfrm>
            <a:off x="812680" y="1501775"/>
            <a:ext cx="189582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GENERATOR 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0383" y="1872516"/>
            <a:ext cx="520687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Target-class synthesis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83" y="2443956"/>
            <a:ext cx="520687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Noise z + target label y (class 0–9) → label embedding → combined representation → neural layers → synthetic image 1 × 28 × 28.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0383" y="3667284"/>
            <a:ext cx="535926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G(z, y) is the generated image.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046" y="1252637"/>
            <a:ext cx="5511662" cy="2840038"/>
          </a:xfrm>
          <a:prstGeom prst="roundRect">
            <a:avLst>
              <a:gd name="adj" fmla="val 3756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49841" y="1430437"/>
            <a:ext cx="2000696" cy="355402"/>
          </a:xfrm>
          <a:prstGeom prst="roundRect">
            <a:avLst>
              <a:gd name="adj" fmla="val 24013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2138" y="1527175"/>
            <a:ext cx="230568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DISCRIMINATOR 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49841" y="1897916"/>
            <a:ext cx="515607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Image–label pair authenticity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49841" y="2469356"/>
            <a:ext cx="515607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Image x + label y → image features + conditioning → real/fake prediction for the image–label pair.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9841" y="3692684"/>
            <a:ext cx="533386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D(x, y) is the discriminator output.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987" y="4321274"/>
            <a:ext cx="11175720" cy="1434009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60383" y="4487009"/>
            <a:ext cx="110233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MINIMAX OBJECTIVE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4836220"/>
            <a:ext cx="10870928" cy="43398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0383" y="5380692"/>
            <a:ext cx="1102332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Practical training may use non-saturating generator loss or BCE-with-logits.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4210"/>
            <a:ext cx="11658308" cy="187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kern="100" spc="49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04 · TRAINING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3387" y="537247"/>
            <a:ext cx="11124922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b="1" kern="100" spc="-14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Training alternates between generation and judgment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387" y="1117600"/>
            <a:ext cx="84115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CB6351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387" y="1427663"/>
            <a:ext cx="3632109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Load and preprocess MNIST.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7892" y="1117600"/>
            <a:ext cx="84115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CB6351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02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317892" y="1427663"/>
            <a:ext cx="3555911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Define Generator and Discriminator; initialize weights and optimizers.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26199" y="1117600"/>
            <a:ext cx="84115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CB6351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03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026199" y="1427663"/>
            <a:ext cx="3632109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Sample real images and labels; generate fake images from noise and selected labels.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3387" y="2042716"/>
            <a:ext cx="84115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CB6351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04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3387" y="2352779"/>
            <a:ext cx="3632109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Update the Discriminator on real and fake image–label pairs.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17892" y="2042716"/>
            <a:ext cx="84115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CB6351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05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317892" y="2352779"/>
            <a:ext cx="3555911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Update the Generator to improve realism and class alignment.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26199" y="2042716"/>
            <a:ext cx="84115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CB6351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06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026199" y="2352779"/>
            <a:ext cx="3632109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Record losses, save image grids, repeat for configured epochs, then evaluate.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387" y="3002648"/>
            <a:ext cx="11124922" cy="187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kern="100" spc="49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EXPERIMENTAL CONFIGURATION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17474"/>
              </p:ext>
            </p:extLst>
          </p:nvPr>
        </p:nvGraphicFramePr>
        <p:xfrm>
          <a:off x="533387" y="3295650"/>
          <a:ext cx="11124922" cy="2547674"/>
        </p:xfrm>
        <a:graphic>
          <a:graphicData uri="http://schemas.openxmlformats.org/drawingml/2006/table">
            <a:tbl>
              <a:tblPr/>
              <a:tblGrid>
                <a:gridCol w="4227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7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Setting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Value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Latent dimension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100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Batch size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128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Epochs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12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Optimizer / learning rate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Adam/0.0002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Hardware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NVIDIA T4 GPU</a:t>
                      </a:r>
                      <a:endParaRPr lang="en-US" sz="14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7639" marR="167639" marT="89407" marB="89407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33387" y="5965178"/>
            <a:ext cx="11124922" cy="203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Losses are recorded and image grids are saved across configured epochs.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33387" y="6349494"/>
            <a:ext cx="11124922" cy="187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kern="100" spc="49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END-TO-END FLOW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33387" y="6650340"/>
            <a:ext cx="11124922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Dataset → Preprocessing → Label Conditioning → G/D Training → Evaluation → Generated Images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12479"/>
            <a:ext cx="11886903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52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05 · EVIDENCE GATE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04792" y="408272"/>
            <a:ext cx="11582110" cy="104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700" b="1" kern="100" spc="-18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Experimental evidence must come from the trained model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304792" y="1652657"/>
            <a:ext cx="11886903" cy="314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Keep these panels as placeholders until run artifacts exist; make no success claims before training evidence exists.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304792" y="2152848"/>
            <a:ext cx="3657509" cy="2291854"/>
          </a:xfrm>
          <a:prstGeom prst="roundRect">
            <a:avLst>
              <a:gd name="adj" fmla="val 4282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588" y="2305248"/>
            <a:ext cx="1375832" cy="327025"/>
          </a:xfrm>
          <a:prstGeom prst="roundRect">
            <a:avLst>
              <a:gd name="adj" fmla="val 2400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781" y="2400000"/>
            <a:ext cx="1705032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b="1" kern="100" spc="15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EVIDENCE 01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2588" y="2727078"/>
            <a:ext cx="3301917" cy="36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Generated digit grid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2588" y="3247029"/>
            <a:ext cx="3479713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2587" y="3578102"/>
            <a:ext cx="34797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Cover labels 0–9 with several samples per class.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7093" y="2152848"/>
            <a:ext cx="3657509" cy="2291854"/>
          </a:xfrm>
          <a:prstGeom prst="roundRect">
            <a:avLst>
              <a:gd name="adj" fmla="val 4282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4889" y="2305248"/>
            <a:ext cx="1375832" cy="327025"/>
          </a:xfrm>
          <a:prstGeom prst="roundRect">
            <a:avLst>
              <a:gd name="adj" fmla="val 2400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5081" y="2400000"/>
            <a:ext cx="1705032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b="1" kern="100" spc="15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EVIDENCE 02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44889" y="2727078"/>
            <a:ext cx="3301917" cy="36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Training loss curves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44889" y="3247029"/>
            <a:ext cx="3301917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44888" y="3557498"/>
            <a:ext cx="3301917" cy="425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Show Generator and Discriminator losses over time.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394" y="2152848"/>
            <a:ext cx="3657509" cy="2291854"/>
          </a:xfrm>
          <a:prstGeom prst="roundRect">
            <a:avLst>
              <a:gd name="adj" fmla="val 4282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7190" y="2305248"/>
            <a:ext cx="1375832" cy="327025"/>
          </a:xfrm>
          <a:prstGeom prst="roundRect">
            <a:avLst>
              <a:gd name="adj" fmla="val 2400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7382" y="2400000"/>
            <a:ext cx="1705032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b="1" kern="100" spc="15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EVIDENCE 03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7190" y="2727078"/>
            <a:ext cx="3301917" cy="36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Epoch-wise comparison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07190" y="3247029"/>
            <a:ext cx="3301917" cy="181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07189" y="3511181"/>
            <a:ext cx="34797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Compare selected epochs, if available.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4792" y="4749502"/>
            <a:ext cx="11582110" cy="2291854"/>
          </a:xfrm>
          <a:prstGeom prst="roundRect">
            <a:avLst>
              <a:gd name="adj" fmla="val 4282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507987" y="4901902"/>
            <a:ext cx="1375832" cy="327025"/>
          </a:xfrm>
          <a:prstGeom prst="roundRect">
            <a:avLst>
              <a:gd name="adj" fmla="val 2400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180" y="4996654"/>
            <a:ext cx="1705032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b="1" kern="100" spc="15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EVIDENCE 04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7987" y="5323732"/>
            <a:ext cx="11175720" cy="36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Observations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7987" y="5842268"/>
            <a:ext cx="11175720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Visual recognizability, Class-specific generation, Diversity, Stability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7054"/>
            <a:ext cx="1112492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b="1" kern="100" spc="-16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Evaluation separates class control from image realism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3387" y="1392833"/>
            <a:ext cx="5410065" cy="5070277"/>
          </a:xfrm>
          <a:prstGeom prst="roundRect">
            <a:avLst>
              <a:gd name="adj" fmla="val 2104"/>
            </a:avLst>
          </a:prstGeom>
          <a:solidFill>
            <a:srgbClr val="111A2E"/>
          </a:solidFill>
          <a:ln/>
        </p:spPr>
      </p:sp>
      <p:sp>
        <p:nvSpPr>
          <p:cNvPr id="4" name="Shape 2"/>
          <p:cNvSpPr/>
          <p:nvPr/>
        </p:nvSpPr>
        <p:spPr>
          <a:xfrm>
            <a:off x="812780" y="1545233"/>
            <a:ext cx="1796807" cy="355402"/>
          </a:xfrm>
          <a:prstGeom prst="roundRect">
            <a:avLst>
              <a:gd name="adj" fmla="val 24013"/>
            </a:avLst>
          </a:prstGeom>
          <a:solidFill>
            <a:srgbClr val="3B1812"/>
          </a:solidFill>
          <a:ln/>
        </p:spPr>
      </p:sp>
      <p:sp>
        <p:nvSpPr>
          <p:cNvPr id="5" name="Text 3"/>
          <p:cNvSpPr/>
          <p:nvPr/>
        </p:nvSpPr>
        <p:spPr>
          <a:xfrm>
            <a:off x="965077" y="1641971"/>
            <a:ext cx="210179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CLASS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0" y="2049859"/>
            <a:ext cx="4851279" cy="243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Inspect generated grids and loss curves qualitatively.</a:t>
            </a:r>
            <a:endParaRPr lang="en-US" sz="2000" dirty="0"/>
          </a:p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Measure class consistency with a separately trained and validated MNIST classifier.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7DE2B2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Class consistency:</a:t>
            </a: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requested-label matches ÷ generated samples.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8244" y="1392833"/>
            <a:ext cx="5410065" cy="5070277"/>
          </a:xfrm>
          <a:prstGeom prst="roundRect">
            <a:avLst>
              <a:gd name="adj" fmla="val 2104"/>
            </a:avLst>
          </a:prstGeom>
          <a:solidFill>
            <a:srgbClr val="111A2E"/>
          </a:solidFill>
          <a:ln w="25399">
            <a:solidFill>
              <a:srgbClr val="C2BB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53036" y="1570633"/>
            <a:ext cx="2510668" cy="355402"/>
          </a:xfrm>
          <a:prstGeom prst="roundRect">
            <a:avLst>
              <a:gd name="adj" fmla="val 24013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333" y="1667371"/>
            <a:ext cx="28156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100" spc="1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REALISM &amp; NEXT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3036" y="2075259"/>
            <a:ext cx="4800480" cy="421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Use FID only if implemented appropriately; class consistency alone does not prove realism.</a:t>
            </a:r>
            <a:endParaRPr lang="en-US" sz="2000" dirty="0"/>
          </a:p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Limitations:</a:t>
            </a: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28 × 28 grayscale scope; unstable GAN training; possible mode collapse; artifacts; incomplete quality coverage.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Conclusion:</a:t>
            </a:r>
            <a:r>
              <a:rPr lang="en-US" sz="2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 cGAN conditions both networks on labels. Evaluate actual outputs, then consider Fashion-MNIST, WGAN-GP, and more complex datasets.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93520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80990" y="406804"/>
            <a:ext cx="61466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20" dirty="0">
                <a:solidFill>
                  <a:srgbClr val="FFFFFF"/>
                </a:solidFill>
                <a:latin typeface="Libre Caslon Text Bold" pitchFamily="34" charset="0"/>
                <a:ea typeface="Libre Caslon Text Bold" pitchFamily="34" charset="-122"/>
                <a:cs typeface="Libre Caslon Text Bold" pitchFamily="34" charset="0"/>
              </a:rPr>
              <a:t>Repository, references, and questions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0990" y="1757918"/>
            <a:ext cx="614664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GitHub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0990" y="2329359"/>
            <a:ext cx="652763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0990" y="3128824"/>
            <a:ext cx="614664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Repository contents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0990" y="3698994"/>
            <a:ext cx="614664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CA2_cGAN_MNIST.ipynb · README.md · CA-2 presentation · actual experimental outputs.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0990" y="4713048"/>
            <a:ext cx="6146646" cy="85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ntium Book Plus" pitchFamily="34" charset="0"/>
                <a:ea typeface="Gentium Book Plus" pitchFamily="34" charset="-122"/>
                <a:cs typeface="Gentium Book Plus" pitchFamily="34" charset="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289618" y="394335"/>
            <a:ext cx="490207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56" dirty="0">
                <a:solidFill>
                  <a:srgbClr val="FFFFFF"/>
                </a:solidFill>
                <a:latin typeface="Gentium Book Plus Bold" pitchFamily="34" charset="0"/>
                <a:ea typeface="Gentium Book Plus Bold" pitchFamily="34" charset="-122"/>
                <a:cs typeface="Gentium Book Plus Bold" pitchFamily="34" charset="0"/>
              </a:rPr>
              <a:t>REFERENCES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9618" y="822920"/>
          <a:ext cx="4521087" cy="5689458"/>
        </p:xfrm>
        <a:graphic>
          <a:graphicData uri="http://schemas.openxmlformats.org/drawingml/2006/table">
            <a:tbl>
              <a:tblPr/>
              <a:tblGrid>
                <a:gridCol w="117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Source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Reference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6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GAN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Goodfellow et al., “Generative Adversarial Nets,” NeurIPS, 2014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6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cGAN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Mirza and Osindero, “Conditional Generative Adversarial Nets,” 2014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26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MNIST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LeCun, Cortes and Burges, “The MNIST Database of Handwritten Digits”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9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Tools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0"/>
                        </a:rPr>
                        <a:t>Official PyTorch and Torchvision MNIST documentation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50BAE-DF8B-1593-67FD-29CCDAFB2760}"/>
              </a:ext>
            </a:extLst>
          </p:cNvPr>
          <p:cNvSpPr txBox="1"/>
          <p:nvPr/>
        </p:nvSpPr>
        <p:spPr>
          <a:xfrm>
            <a:off x="223935" y="2230016"/>
            <a:ext cx="6303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https://github.com/Priyanshu-PJ/CA2-Conditional-Image-Generation-cGAN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814</Words>
  <Application>Microsoft Office PowerPoint</Application>
  <PresentationFormat>Widescreen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Gentium Book Plus</vt:lpstr>
      <vt:lpstr>Calibri</vt:lpstr>
      <vt:lpstr>Calibri Light</vt:lpstr>
      <vt:lpstr>Libre Caslon Text Bold</vt:lpstr>
      <vt:lpstr>Arial</vt:lpstr>
      <vt:lpstr>Gentium Book Plus Bold</vt:lpstr>
      <vt:lpstr>Libre Caslon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Priyanshu Jaiswal</cp:lastModifiedBy>
  <cp:revision>6</cp:revision>
  <dcterms:created xsi:type="dcterms:W3CDTF">2026-10-28T16:03:28Z</dcterms:created>
  <dcterms:modified xsi:type="dcterms:W3CDTF">2026-10-29T05:09:39Z</dcterms:modified>
</cp:coreProperties>
</file>