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2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embeddedFontLst>
    <p:embeddedFont>
      <p:font typeface="Gentium Book Plus" panose="020B0604020202020204" charset="0"/>
      <p:regular r:id="rId11"/>
    </p:embeddedFont>
    <p:embeddedFont>
      <p:font typeface="Gentium Book Plus Bold" panose="020B0604020202020204" charset="0"/>
      <p:regular r:id="rId12"/>
    </p:embeddedFont>
    <p:embeddedFont>
      <p:font typeface="Libre Caslon Text" panose="020B0604020202020204" charset="0"/>
      <p:regular r:id="rId13"/>
    </p:embeddedFont>
    <p:embeddedFont>
      <p:font typeface="Libre Caslon Text Bold" panose="020B0604020202020204" charset="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1755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BDD09-DD41-4C98-4708-CCC8DB5E23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C216E1-3BEF-82DB-6351-3A5991FC30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5D3BC9-2AE4-32D1-869E-4285FD4A4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283F6-1643-4733-B36A-35E9AEB97D14}" type="datetimeFigureOut">
              <a:rPr lang="en-IN" smtClean="0"/>
              <a:t>29-10-2026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6B3752-BA58-6EF2-0450-8942408EC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F2FF49-D1F3-2E3D-9A18-FDBB516F7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D9183-0DDD-4A0E-B663-AF7E1DCDBD1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1933862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38A4C-F1A4-AAAE-EA07-28762915D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9AD36-B6DC-7FAA-E962-935843A728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97262-DEE5-805C-D6D6-731FC5F8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283F6-1643-4733-B36A-35E9AEB97D14}" type="datetimeFigureOut">
              <a:rPr lang="en-IN" smtClean="0"/>
              <a:t>29-10-2026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086585-3E43-76A0-584B-0C9B882E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AFC63-C2EB-E4D9-7D7F-4FE59149E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D9183-0DDD-4A0E-B663-AF7E1DCDBD1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0467869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FAC5B-0C07-8F74-1B1C-70EE990A6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3A07A-40A9-5F81-C983-433B7F3481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A0638E-B5B1-0DAA-9AC9-D9222F1E5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283F6-1643-4733-B36A-35E9AEB97D14}" type="datetimeFigureOut">
              <a:rPr lang="en-IN" smtClean="0"/>
              <a:t>29-10-2026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AAF319-630B-705E-AB31-B4CE9EB7A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5268AA-1AE9-94E1-1334-B3AAC4B32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D9183-0DDD-4A0E-B663-AF7E1DCDBD1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145819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54FA3-CD06-C84A-5CE0-8CFB157D9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6AABBD-05C4-5288-7D8E-FFE99F60E9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0AA569-707D-0A61-8EA9-0F5E061C15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B7DC6F-4819-EC40-0FD6-E7C644E46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283F6-1643-4733-B36A-35E9AEB97D14}" type="datetimeFigureOut">
              <a:rPr lang="en-IN" smtClean="0"/>
              <a:t>29-10-2026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3D68E3-3DDB-EBDE-38D1-497B6F348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F2AEFE-24BB-CE5B-6B34-78847B138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D9183-0DDD-4A0E-B663-AF7E1DCDBD1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932749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3D2A1-7259-1276-A164-5A08918A6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F35C09-5202-3512-A1A0-6EEDC2BBF8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264895-8534-47A6-536B-82C8939245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F53CA4-2C66-A357-9F67-D35634D1E0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E27A17-E6D2-1CCD-B1C9-1BB5992D2B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501E8A-97D8-3B80-4DA5-A9DD68215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283F6-1643-4733-B36A-35E9AEB97D14}" type="datetimeFigureOut">
              <a:rPr lang="en-IN" smtClean="0"/>
              <a:t>29-10-2026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3C5AF8-9B2E-64C6-0BC0-81B0E369E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6A0A5E6-E06F-3B21-E4AF-50C3130FF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D9183-0DDD-4A0E-B663-AF7E1DCDBD1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687841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AE8C6-2AD2-B788-2DC5-1FBAA6E0E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DBA3BEC-E353-8F0A-2E83-FCA7AA665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283F6-1643-4733-B36A-35E9AEB97D14}" type="datetimeFigureOut">
              <a:rPr lang="en-IN" smtClean="0"/>
              <a:t>29-10-2026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5A3424-81CF-35A4-3D5A-CF8AE9A5E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9248F4-8BBB-F78F-01D0-1739C40C1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D9183-0DDD-4A0E-B663-AF7E1DCDBD1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5064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7CCF07-12A2-BB84-1F43-7CC75E87B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283F6-1643-4733-B36A-35E9AEB97D14}" type="datetimeFigureOut">
              <a:rPr lang="en-IN" smtClean="0"/>
              <a:t>29-10-2026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69D353-B115-408B-902C-B113758AF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806DBE-CE1C-9DF9-3FA9-82C013383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D9183-0DDD-4A0E-B663-AF7E1DCDBD1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14931402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3D474-F07A-E67E-785C-0B6B40C1F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428F6-1D80-5EB9-CE90-7C1474D75C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D5CED7-7D96-111C-D6A5-372B10E970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E71B8E-4D2D-A561-8A20-281A33293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283F6-1643-4733-B36A-35E9AEB97D14}" type="datetimeFigureOut">
              <a:rPr lang="en-IN" smtClean="0"/>
              <a:t>29-10-2026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390D92-4582-DBE9-7CF9-007F04C92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95C520-422C-3DE6-1454-FF93EA90C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D9183-0DDD-4A0E-B663-AF7E1DCDBD1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6519803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4A141-22D6-D9B5-1573-0BDF34448A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4733C39-7AF6-3540-6059-5EE87A7E4C1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82A324-6A24-B326-DECD-F803B36B58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AE0BFD-F131-98BD-7857-E92270FC2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283F6-1643-4733-B36A-35E9AEB97D14}" type="datetimeFigureOut">
              <a:rPr lang="en-IN" smtClean="0"/>
              <a:t>29-10-2026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F1132B-DE12-91EB-4381-9D2F9C2A1A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2E95E6-6369-1869-6F57-9638D223F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D9183-0DDD-4A0E-B663-AF7E1DCDBD1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999998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57077-AC9F-305B-B3FD-C0F3CB587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FF3FCD-11E2-BA49-C19F-15068E8062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1DD4AB-804B-0CA2-93DA-81B3DDA91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283F6-1643-4733-B36A-35E9AEB97D14}" type="datetimeFigureOut">
              <a:rPr lang="en-IN" smtClean="0"/>
              <a:t>29-10-2026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CD9216-63F9-2147-8E02-A1A76AC40D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76F61B-9325-893D-8352-ACB780156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D9183-0DDD-4A0E-B663-AF7E1DCDBD1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20256179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EE0C2D0-BF54-4BB0-DA45-C4001EF3E4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8DEB1A-4C12-D1B0-28EE-ABD4B0497B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F26D02-21CC-9468-4C7A-07C0A4434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283F6-1643-4733-B36A-35E9AEB97D14}" type="datetimeFigureOut">
              <a:rPr lang="en-IN" smtClean="0"/>
              <a:t>29-10-2026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0F6D28-D408-BACF-F15C-8CDDAF6FC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B0CB1E-3648-9A46-02BF-C5696E191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D9183-0DDD-4A0E-B663-AF7E1DCDBD1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5455149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1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6052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2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81008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D6737C-ED50-4E1E-F731-B4AEC3A2D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FB2C59-7775-B70E-4DA1-8FD478B4A4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A6A511-778D-565D-B8AE-2BC23CCA5F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04283F6-1643-4733-B36A-35E9AEB97D14}" type="datetimeFigureOut">
              <a:rPr lang="en-IN" smtClean="0"/>
              <a:t>29-10-2026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23FF1F-9546-6BAE-AD73-3C0904C061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A07A50-CA86-1B91-4885-93503F647E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3D9183-0DDD-4A0E-B663-AF7E1DCDBD1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3409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  <p:sldLayoutId id="2147483664" r:id="rId12"/>
    <p:sldLayoutId id="2147483665" r:id="rId13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7987" y="533400"/>
            <a:ext cx="3189406" cy="355402"/>
          </a:xfrm>
          <a:prstGeom prst="roundRect">
            <a:avLst>
              <a:gd name="adj" fmla="val 24013"/>
            </a:avLst>
          </a:prstGeom>
          <a:solidFill>
            <a:srgbClr val="3B1812"/>
          </a:solidFill>
          <a:ln/>
        </p:spPr>
      </p:sp>
      <p:sp>
        <p:nvSpPr>
          <p:cNvPr id="3" name="Text 1"/>
          <p:cNvSpPr/>
          <p:nvPr/>
        </p:nvSpPr>
        <p:spPr>
          <a:xfrm>
            <a:off x="660284" y="630138"/>
            <a:ext cx="3494397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600" b="1" kern="100" spc="16" dirty="0">
                <a:solidFill>
                  <a:srgbClr val="FFFFFF"/>
                </a:solidFill>
                <a:latin typeface="Gentium Book Plus Bold" pitchFamily="34" charset="0"/>
                <a:ea typeface="Gentium Book Plus Bold" pitchFamily="34" charset="-122"/>
                <a:cs typeface="Gentium Book Plus Bold" pitchFamily="34" charset="0"/>
              </a:rPr>
              <a:t>CA-2 · DEEP LEARNING PROJECT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7987" y="1337112"/>
            <a:ext cx="721342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56" dirty="0">
                <a:solidFill>
                  <a:srgbClr val="FFFFFF"/>
                </a:solidFill>
                <a:latin typeface="Gentium Book Plus Bold" pitchFamily="34" charset="0"/>
                <a:ea typeface="Gentium Book Plus Bold" pitchFamily="34" charset="-122"/>
                <a:cs typeface="Gentium Book Plus Bold" pitchFamily="34" charset="0"/>
              </a:rPr>
              <a:t>B.TECH CSIT · GENERATIVE MODELS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7987" y="1704073"/>
            <a:ext cx="6705432" cy="2400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6000" kern="100" spc="-60" dirty="0">
                <a:solidFill>
                  <a:srgbClr val="FFFFFF"/>
                </a:solidFill>
                <a:latin typeface="Libre Caslon Text" pitchFamily="34" charset="0"/>
                <a:ea typeface="Libre Caslon Text" pitchFamily="34" charset="-122"/>
                <a:cs typeface="Libre Caslon Text" pitchFamily="34" charset="0"/>
              </a:rPr>
              <a:t>Conditional Image</a:t>
            </a:r>
            <a:endParaRPr lang="en-US" sz="6000" dirty="0"/>
          </a:p>
          <a:p>
            <a:pPr marL="0" indent="0" algn="l">
              <a:lnSpc>
                <a:spcPct val="88000"/>
              </a:lnSpc>
              <a:buNone/>
            </a:pPr>
            <a:r>
              <a:rPr lang="en-US" sz="6000" kern="100" spc="-60" dirty="0">
                <a:solidFill>
                  <a:srgbClr val="FFFFFF"/>
                </a:solidFill>
                <a:latin typeface="Libre Caslon Text" pitchFamily="34" charset="0"/>
                <a:ea typeface="Libre Caslon Text" pitchFamily="34" charset="-122"/>
                <a:cs typeface="Libre Caslon Text" pitchFamily="34" charset="0"/>
              </a:rPr>
              <a:t>Generation Using cGAN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507987" y="4276804"/>
            <a:ext cx="6705432" cy="726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Class-Controlled Handwritten Digit Generation Using Deep Learning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7987" y="5178028"/>
            <a:ext cx="6705432" cy="1152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4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Student name(s): Priyansh Jaiswal(202401100500133)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4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                                Mohit Jaiswal(202401100500108)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4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Section: B</a:t>
            </a:r>
            <a:endParaRPr lang="en-US" sz="1400" dirty="0"/>
          </a:p>
          <a:p>
            <a:pPr marL="0" indent="0" algn="l">
              <a:lnSpc>
                <a:spcPct val="108000"/>
              </a:lnSpc>
              <a:spcAft>
                <a:spcPts val="1750"/>
              </a:spcAft>
              <a:buNone/>
            </a:pPr>
            <a:r>
              <a:rPr lang="en-US" sz="1400" kern="100" spc="14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Institution: KIET deemed to be university</a:t>
            </a:r>
            <a:endParaRPr lang="en-US" sz="14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4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Stack: Python, PyTorch, Torchvision, Google Colab · Dataset: MNIST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21407" y="0"/>
            <a:ext cx="4470288" cy="6864350"/>
          </a:xfrm>
          <a:prstGeom prst="rect">
            <a:avLst/>
          </a:prstGeom>
          <a:solidFill>
            <a:srgbClr val="111A2E"/>
          </a:solidFill>
          <a:ln/>
        </p:spPr>
      </p:sp>
      <p:sp>
        <p:nvSpPr>
          <p:cNvPr id="9" name="Text 7"/>
          <p:cNvSpPr/>
          <p:nvPr/>
        </p:nvSpPr>
        <p:spPr>
          <a:xfrm>
            <a:off x="8153196" y="3376652"/>
            <a:ext cx="4038499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56" dirty="0">
                <a:solidFill>
                  <a:srgbClr val="FFFFFF"/>
                </a:solidFill>
                <a:latin typeface="Gentium Book Plus Bold" pitchFamily="34" charset="0"/>
                <a:ea typeface="Gentium Book Plus Bold" pitchFamily="34" charset="-122"/>
                <a:cs typeface="Gentium Book Plus Bold" pitchFamily="34" charset="0"/>
              </a:rPr>
              <a:t>PROJECT AIM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153196" y="3688715"/>
            <a:ext cx="3606710" cy="792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Generate a target class on demand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153196" y="4655066"/>
            <a:ext cx="3606710" cy="1137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This project implements a Conditional GAN that generates synthetic handwritten digit images based on a user-specified class label.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153196" y="6030079"/>
            <a:ext cx="360671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4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Illustrative 0–9 conditioning field · replace with trained outputs when available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3387" y="368935"/>
            <a:ext cx="11658308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56" dirty="0">
                <a:solidFill>
                  <a:srgbClr val="FFFFFF"/>
                </a:solidFill>
                <a:latin typeface="Gentium Book Plus Bold" pitchFamily="34" charset="0"/>
                <a:ea typeface="Gentium Book Plus Bold" pitchFamily="34" charset="-122"/>
                <a:cs typeface="Gentium Book Plus Bold" pitchFamily="34" charset="0"/>
              </a:rPr>
              <a:t>01 · THE PROBLEM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33387" y="696324"/>
            <a:ext cx="11124922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3000"/>
              </a:lnSpc>
              <a:buNone/>
            </a:pPr>
            <a:r>
              <a:rPr lang="en-US" sz="4000" b="1" kern="100" spc="-20" dirty="0">
                <a:solidFill>
                  <a:srgbClr val="FFFFFF"/>
                </a:solidFill>
                <a:latin typeface="Libre Caslon Text Bold" pitchFamily="34" charset="0"/>
                <a:ea typeface="Libre Caslon Text Bold" pitchFamily="34" charset="-122"/>
                <a:cs typeface="Libre Caslon Text Bold" pitchFamily="34" charset="0"/>
              </a:rPr>
              <a:t>cGAN adds control to image generation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33387" y="1495028"/>
            <a:ext cx="11658308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The label becomes part of the generation task, not a guess made after the image is produced.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33387" y="2077641"/>
            <a:ext cx="4907137" cy="3271838"/>
          </a:xfrm>
          <a:prstGeom prst="roundRect">
            <a:avLst>
              <a:gd name="adj" fmla="val 3260"/>
            </a:avLst>
          </a:prstGeom>
          <a:solidFill>
            <a:srgbClr val="111A2E"/>
          </a:solidFill>
          <a:ln w="25399">
            <a:solidFill>
              <a:srgbClr val="C2BBA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8978" y="2407841"/>
            <a:ext cx="1757021" cy="355402"/>
          </a:xfrm>
          <a:prstGeom prst="roundRect">
            <a:avLst>
              <a:gd name="adj" fmla="val 24013"/>
            </a:avLst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41275" y="2504579"/>
            <a:ext cx="2062012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600" b="1" kern="100" spc="16" dirty="0">
                <a:solidFill>
                  <a:srgbClr val="FFFFFF"/>
                </a:solidFill>
                <a:latin typeface="Gentium Book Plus Bold" pitchFamily="34" charset="0"/>
                <a:ea typeface="Gentium Book Plus Bold" pitchFamily="34" charset="-122"/>
                <a:cs typeface="Gentium Book Plus Bold" pitchFamily="34" charset="0"/>
              </a:rPr>
              <a:t>STANDARD GAN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88978" y="3002320"/>
            <a:ext cx="4195955" cy="396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Randomness first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88978" y="3573760"/>
            <a:ext cx="4195955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Random noise </a:t>
            </a:r>
            <a:r>
              <a:rPr lang="en-US" sz="2000" dirty="0">
                <a:solidFill>
                  <a:srgbClr val="35D4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z</a:t>
            </a:r>
            <a:r>
              <a:rPr lang="en-US" sz="20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 is mapped to an image. The model does not directly specify which digit class should appear.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88978" y="4797088"/>
            <a:ext cx="4551546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4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Noise → generated image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745217" y="3468747"/>
            <a:ext cx="701161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2800" dirty="0">
                <a:solidFill>
                  <a:srgbClr val="35D4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→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6751072" y="2077641"/>
            <a:ext cx="4907237" cy="3271838"/>
          </a:xfrm>
          <a:prstGeom prst="roundRect">
            <a:avLst>
              <a:gd name="adj" fmla="val 3260"/>
            </a:avLst>
          </a:prstGeom>
          <a:solidFill>
            <a:srgbClr val="111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7081263" y="2382441"/>
            <a:ext cx="2035124" cy="355402"/>
          </a:xfrm>
          <a:prstGeom prst="roundRect">
            <a:avLst>
              <a:gd name="adj" fmla="val 24013"/>
            </a:avLst>
          </a:prstGeom>
          <a:solidFill>
            <a:srgbClr val="3B1812"/>
          </a:solidFill>
          <a:ln/>
        </p:spPr>
      </p:sp>
      <p:sp>
        <p:nvSpPr>
          <p:cNvPr id="14" name="Text 12"/>
          <p:cNvSpPr/>
          <p:nvPr/>
        </p:nvSpPr>
        <p:spPr>
          <a:xfrm>
            <a:off x="7233560" y="2479179"/>
            <a:ext cx="2340115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600" b="1" kern="100" spc="16" dirty="0">
                <a:solidFill>
                  <a:srgbClr val="FFFFFF"/>
                </a:solidFill>
                <a:latin typeface="Gentium Book Plus Bold" pitchFamily="34" charset="0"/>
                <a:ea typeface="Gentium Book Plus Bold" pitchFamily="34" charset="-122"/>
                <a:cs typeface="Gentium Book Plus Bold" pitchFamily="34" charset="0"/>
              </a:rPr>
              <a:t>CONDITIONAL GAN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081263" y="2976920"/>
            <a:ext cx="4246853" cy="396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Label-guided synthesis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081263" y="3548360"/>
            <a:ext cx="4246853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Noise </a:t>
            </a:r>
            <a:r>
              <a:rPr lang="en-US" sz="2000" dirty="0">
                <a:solidFill>
                  <a:srgbClr val="35D4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z</a:t>
            </a:r>
            <a:r>
              <a:rPr lang="en-US" sz="20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 and class label y jointly guide the generator toward a target-class image.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7081263" y="4771688"/>
            <a:ext cx="4577045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4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Noise + class label → target-class image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0" y="5705078"/>
            <a:ext cx="12191695" cy="1152922"/>
          </a:xfrm>
          <a:prstGeom prst="rect">
            <a:avLst/>
          </a:prstGeom>
          <a:solidFill>
            <a:srgbClr val="111A2E"/>
          </a:solidFill>
          <a:ln/>
        </p:spPr>
      </p:sp>
      <p:sp>
        <p:nvSpPr>
          <p:cNvPr id="19" name="Text 17"/>
          <p:cNvSpPr/>
          <p:nvPr/>
        </p:nvSpPr>
        <p:spPr>
          <a:xfrm>
            <a:off x="533387" y="5884466"/>
            <a:ext cx="11124922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Gentium Book Plus Bold" pitchFamily="34" charset="0"/>
                <a:ea typeface="Gentium Book Plus Bold" pitchFamily="34" charset="-122"/>
                <a:cs typeface="Gentium Book Plus Bold" pitchFamily="34" charset="0"/>
              </a:rPr>
              <a:t>Objectives.</a:t>
            </a:r>
            <a:r>
              <a:rPr lang="en-US" sz="20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 Implement a PyTorch cGAN, train on MNIST, generate labels 0–9, and evaluate image quality together with class consistency.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283068" cy="6858000"/>
          </a:xfrm>
          <a:prstGeom prst="rect">
            <a:avLst/>
          </a:prstGeom>
          <a:solidFill>
            <a:srgbClr val="111A2E"/>
          </a:solidFill>
          <a:ln/>
        </p:spPr>
      </p:sp>
      <p:sp>
        <p:nvSpPr>
          <p:cNvPr id="3" name="Text 1"/>
          <p:cNvSpPr/>
          <p:nvPr/>
        </p:nvSpPr>
        <p:spPr>
          <a:xfrm>
            <a:off x="355591" y="394335"/>
            <a:ext cx="4927477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56" dirty="0">
                <a:solidFill>
                  <a:srgbClr val="FFFFFF"/>
                </a:solidFill>
                <a:latin typeface="Gentium Book Plus Bold" pitchFamily="34" charset="0"/>
                <a:ea typeface="Gentium Book Plus Bold" pitchFamily="34" charset="-122"/>
                <a:cs typeface="Gentium Book Plus Bold" pitchFamily="34" charset="0"/>
              </a:rPr>
              <a:t>02 · DATASET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55591" y="714374"/>
            <a:ext cx="4571886" cy="13653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3000"/>
              </a:lnSpc>
              <a:buNone/>
            </a:pPr>
            <a:r>
              <a:rPr lang="en-US" sz="3200" b="1" kern="100" spc="-16" dirty="0">
                <a:solidFill>
                  <a:srgbClr val="FFFFFF"/>
                </a:solidFill>
                <a:latin typeface="Libre Caslon Text Bold" pitchFamily="34" charset="0"/>
                <a:ea typeface="Libre Caslon Text Bold" pitchFamily="34" charset="-122"/>
                <a:cs typeface="Libre Caslon Text Bold" pitchFamily="34" charset="0"/>
              </a:rPr>
              <a:t>MNIST turns conditioning into a measurable task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355591" y="2316857"/>
            <a:ext cx="4571886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One of ten handwritten digit classes is the target for each generated image.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55591" y="3255070"/>
            <a:ext cx="2669314" cy="355402"/>
          </a:xfrm>
          <a:prstGeom prst="roundRect">
            <a:avLst>
              <a:gd name="adj" fmla="val 24013"/>
            </a:avLst>
          </a:prstGeom>
          <a:solidFill>
            <a:srgbClr val="3B1812"/>
          </a:solidFill>
          <a:ln/>
        </p:spPr>
      </p:sp>
      <p:sp>
        <p:nvSpPr>
          <p:cNvPr id="7" name="Text 5"/>
          <p:cNvSpPr/>
          <p:nvPr/>
        </p:nvSpPr>
        <p:spPr>
          <a:xfrm>
            <a:off x="507888" y="3351808"/>
            <a:ext cx="2974305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600" b="1" kern="100" spc="16" dirty="0">
                <a:solidFill>
                  <a:srgbClr val="FFFFFF"/>
                </a:solidFill>
                <a:latin typeface="Gentium Book Plus Bold" pitchFamily="34" charset="0"/>
                <a:ea typeface="Gentium Book Plus Bold" pitchFamily="34" charset="-122"/>
                <a:cs typeface="Gentium Book Plus Bold" pitchFamily="34" charset="0"/>
              </a:rPr>
              <a:t>VERIFIED DATASET FACTS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55591" y="3839071"/>
            <a:ext cx="4571886" cy="161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406400" indent="-406400" algn="l">
              <a:lnSpc>
                <a:spcPct val="117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60,000 training images</a:t>
            </a:r>
            <a:endParaRPr lang="en-US" sz="2000" dirty="0"/>
          </a:p>
          <a:p>
            <a:pPr marL="406400" indent="-406400" algn="l">
              <a:lnSpc>
                <a:spcPct val="117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10,000 test images</a:t>
            </a:r>
            <a:endParaRPr lang="en-US" sz="2000" dirty="0"/>
          </a:p>
          <a:p>
            <a:pPr marL="406400" indent="-406400" algn="l">
              <a:lnSpc>
                <a:spcPct val="117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28 × 28 grayscale pixels</a:t>
            </a:r>
            <a:endParaRPr lang="en-US" sz="2000" dirty="0"/>
          </a:p>
          <a:p>
            <a:pPr marL="406400" indent="-406400" algn="l">
              <a:lnSpc>
                <a:spcPct val="117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Ten classes: 0 through 9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714857" y="343535"/>
            <a:ext cx="6476838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56" dirty="0">
                <a:solidFill>
                  <a:srgbClr val="FFFFFF"/>
                </a:solidFill>
                <a:latin typeface="Gentium Book Plus Bold" pitchFamily="34" charset="0"/>
                <a:ea typeface="Gentium Book Plus Bold" pitchFamily="34" charset="-122"/>
                <a:cs typeface="Gentium Book Plus Bold" pitchFamily="34" charset="0"/>
              </a:rPr>
              <a:t>REAL MNIST SAMPLE STRIP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791360" y="5451971"/>
            <a:ext cx="6476838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56" dirty="0">
                <a:solidFill>
                  <a:srgbClr val="FFFFFF"/>
                </a:solidFill>
                <a:latin typeface="Gentium Book Plus Bold" pitchFamily="34" charset="0"/>
                <a:ea typeface="Gentium Book Plus Bold" pitchFamily="34" charset="-122"/>
                <a:cs typeface="Gentium Book Plus Bold" pitchFamily="34" charset="0"/>
              </a:rPr>
              <a:t>PREPROCESSING FLOW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791360" y="5654500"/>
            <a:ext cx="6045049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Torchvision: Load MNIST → Tensor: Convert samples → Normalize: Scale to [-1, 1] → Condition: Labels 0–9 → Batch: Shuffle mini-batches.</a:t>
            </a:r>
            <a:endParaRPr lang="en-US" sz="20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EBB79A-E0F8-FF25-0F9B-E38F8DD318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659" y="607655"/>
            <a:ext cx="5957807" cy="45926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87" y="241935"/>
            <a:ext cx="11683708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56" dirty="0">
                <a:solidFill>
                  <a:srgbClr val="FFFFFF"/>
                </a:solidFill>
                <a:latin typeface="Gentium Book Plus Bold" pitchFamily="34" charset="0"/>
                <a:ea typeface="Gentium Book Plus Bold" pitchFamily="34" charset="-122"/>
                <a:cs typeface="Gentium Book Plus Bold" pitchFamily="34" charset="0"/>
              </a:rPr>
              <a:t>03 · MODEL DESIGN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07987" y="561974"/>
            <a:ext cx="11175720" cy="4551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3000"/>
              </a:lnSpc>
              <a:buNone/>
            </a:pPr>
            <a:r>
              <a:rPr lang="en-US" sz="3200" b="1" kern="100" spc="-16" dirty="0">
                <a:solidFill>
                  <a:srgbClr val="FFFFFF"/>
                </a:solidFill>
                <a:latin typeface="Libre Caslon Text Bold" pitchFamily="34" charset="0"/>
                <a:ea typeface="Libre Caslon Text Bold" pitchFamily="34" charset="-122"/>
                <a:cs typeface="Libre Caslon Text Bold" pitchFamily="34" charset="0"/>
              </a:rPr>
              <a:t>Both networks learn from the class label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7987" y="1252637"/>
            <a:ext cx="5511662" cy="2840038"/>
          </a:xfrm>
          <a:prstGeom prst="roundRect">
            <a:avLst>
              <a:gd name="adj" fmla="val 3756"/>
            </a:avLst>
          </a:prstGeom>
          <a:solidFill>
            <a:srgbClr val="111A2E"/>
          </a:solidFill>
          <a:ln/>
        </p:spPr>
      </p:sp>
      <p:sp>
        <p:nvSpPr>
          <p:cNvPr id="5" name="Shape 3"/>
          <p:cNvSpPr/>
          <p:nvPr/>
        </p:nvSpPr>
        <p:spPr>
          <a:xfrm>
            <a:off x="660383" y="1405037"/>
            <a:ext cx="1590834" cy="355402"/>
          </a:xfrm>
          <a:prstGeom prst="roundRect">
            <a:avLst>
              <a:gd name="adj" fmla="val 24013"/>
            </a:avLst>
          </a:prstGeom>
          <a:solidFill>
            <a:srgbClr val="3B1812"/>
          </a:solidFill>
          <a:ln/>
        </p:spPr>
      </p:sp>
      <p:sp>
        <p:nvSpPr>
          <p:cNvPr id="6" name="Text 4"/>
          <p:cNvSpPr/>
          <p:nvPr/>
        </p:nvSpPr>
        <p:spPr>
          <a:xfrm>
            <a:off x="812680" y="1501775"/>
            <a:ext cx="189582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600" b="1" kern="100" spc="16" dirty="0">
                <a:solidFill>
                  <a:srgbClr val="FFFFFF"/>
                </a:solidFill>
                <a:latin typeface="Gentium Book Plus Bold" pitchFamily="34" charset="0"/>
                <a:ea typeface="Gentium Book Plus Bold" pitchFamily="34" charset="-122"/>
                <a:cs typeface="Gentium Book Plus Bold" pitchFamily="34" charset="0"/>
              </a:rPr>
              <a:t>GENERATOR 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60383" y="1872516"/>
            <a:ext cx="5206870" cy="396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Target-class synthesis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60383" y="2443956"/>
            <a:ext cx="520687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Noise z + target label y (class 0–9) → label embedding → combined representation → neural layers → synthetic image 1 × 28 × 28.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60383" y="3667284"/>
            <a:ext cx="5359266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4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G(z, y) is the generated image.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72046" y="1252637"/>
            <a:ext cx="5511662" cy="2840038"/>
          </a:xfrm>
          <a:prstGeom prst="roundRect">
            <a:avLst>
              <a:gd name="adj" fmla="val 3756"/>
            </a:avLst>
          </a:prstGeom>
          <a:solidFill>
            <a:srgbClr val="111A2E"/>
          </a:solidFill>
          <a:ln w="25399">
            <a:solidFill>
              <a:srgbClr val="C2BBA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49841" y="1430437"/>
            <a:ext cx="2000696" cy="355402"/>
          </a:xfrm>
          <a:prstGeom prst="roundRect">
            <a:avLst>
              <a:gd name="adj" fmla="val 24013"/>
            </a:avLst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02138" y="1527175"/>
            <a:ext cx="2305687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600" b="1" kern="100" spc="16" dirty="0">
                <a:solidFill>
                  <a:srgbClr val="FFFFFF"/>
                </a:solidFill>
                <a:latin typeface="Gentium Book Plus Bold" pitchFamily="34" charset="0"/>
                <a:ea typeface="Gentium Book Plus Bold" pitchFamily="34" charset="-122"/>
                <a:cs typeface="Gentium Book Plus Bold" pitchFamily="34" charset="0"/>
              </a:rPr>
              <a:t>DISCRIMINATOR 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49841" y="1897916"/>
            <a:ext cx="5156071" cy="396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Image–label pair authenticity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349841" y="2469356"/>
            <a:ext cx="5156071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Image x + label y → image features + conditioning → real/fake prediction for the image–label pair.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349841" y="3692684"/>
            <a:ext cx="5333867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4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D(x, y) is the discriminator output.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7987" y="4321274"/>
            <a:ext cx="11175720" cy="1434009"/>
          </a:xfrm>
          <a:prstGeom prst="rect">
            <a:avLst/>
          </a:prstGeom>
          <a:solidFill>
            <a:srgbClr val="111A2E"/>
          </a:solidFill>
          <a:ln/>
        </p:spPr>
      </p:sp>
      <p:sp>
        <p:nvSpPr>
          <p:cNvPr id="17" name="Text 15"/>
          <p:cNvSpPr/>
          <p:nvPr/>
        </p:nvSpPr>
        <p:spPr>
          <a:xfrm>
            <a:off x="660383" y="4487009"/>
            <a:ext cx="11023324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56" dirty="0">
                <a:solidFill>
                  <a:srgbClr val="FFFFFF"/>
                </a:solidFill>
                <a:latin typeface="Gentium Book Plus Bold" pitchFamily="34" charset="0"/>
                <a:ea typeface="Gentium Book Plus Bold" pitchFamily="34" charset="-122"/>
                <a:cs typeface="Gentium Book Plus Bold" pitchFamily="34" charset="0"/>
              </a:rPr>
              <a:t>MINIMAX OBJECTIVE</a:t>
            </a:r>
            <a:endParaRPr lang="en-US" sz="1400" dirty="0"/>
          </a:p>
        </p:txBody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83" y="4836220"/>
            <a:ext cx="10870928" cy="433983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660383" y="5380692"/>
            <a:ext cx="1102332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00" kern="100" spc="14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Practical training may use non-saturating generator loss or BCE-with-logits.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3387" y="264210"/>
            <a:ext cx="11658308" cy="1877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b="1" kern="100" spc="49" dirty="0">
                <a:solidFill>
                  <a:srgbClr val="FFFFFF"/>
                </a:solidFill>
                <a:latin typeface="Gentium Book Plus Bold" pitchFamily="34" charset="0"/>
                <a:ea typeface="Gentium Book Plus Bold" pitchFamily="34" charset="-122"/>
                <a:cs typeface="Gentium Book Plus Bold" pitchFamily="34" charset="0"/>
              </a:rPr>
              <a:t>04 · TRAINING LOOP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33387" y="537247"/>
            <a:ext cx="11124922" cy="4005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3000"/>
              </a:lnSpc>
              <a:buNone/>
            </a:pPr>
            <a:r>
              <a:rPr lang="en-US" sz="2800" b="1" kern="100" spc="-14" dirty="0">
                <a:solidFill>
                  <a:srgbClr val="FFFFFF"/>
                </a:solidFill>
                <a:latin typeface="Libre Caslon Text Bold" pitchFamily="34" charset="0"/>
                <a:ea typeface="Libre Caslon Text Bold" pitchFamily="34" charset="-122"/>
                <a:cs typeface="Libre Caslon Text Bold" pitchFamily="34" charset="0"/>
              </a:rPr>
              <a:t>Training alternates between generation and judgment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33387" y="1117600"/>
            <a:ext cx="841156" cy="223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750" b="1" dirty="0">
                <a:solidFill>
                  <a:srgbClr val="CB6351"/>
                </a:solidFill>
                <a:latin typeface="Gentium Book Plus Bold" pitchFamily="34" charset="0"/>
                <a:ea typeface="Gentium Book Plus Bold" pitchFamily="34" charset="-122"/>
                <a:cs typeface="Gentium Book Plus Bold" pitchFamily="34" charset="0"/>
              </a:rPr>
              <a:t>01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533387" y="1427663"/>
            <a:ext cx="3632109" cy="23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Load and preprocess MNIST.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317892" y="1117600"/>
            <a:ext cx="841156" cy="223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750" b="1" dirty="0">
                <a:solidFill>
                  <a:srgbClr val="CB6351"/>
                </a:solidFill>
                <a:latin typeface="Gentium Book Plus Bold" pitchFamily="34" charset="0"/>
                <a:ea typeface="Gentium Book Plus Bold" pitchFamily="34" charset="-122"/>
                <a:cs typeface="Gentium Book Plus Bold" pitchFamily="34" charset="0"/>
              </a:rPr>
              <a:t>02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4317892" y="1427663"/>
            <a:ext cx="3555911" cy="4704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Define Generator and Discriminator; initialize weights and optimizers.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26199" y="1117600"/>
            <a:ext cx="841156" cy="223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750" b="1" dirty="0">
                <a:solidFill>
                  <a:srgbClr val="CB6351"/>
                </a:solidFill>
                <a:latin typeface="Gentium Book Plus Bold" pitchFamily="34" charset="0"/>
                <a:ea typeface="Gentium Book Plus Bold" pitchFamily="34" charset="-122"/>
                <a:cs typeface="Gentium Book Plus Bold" pitchFamily="34" charset="0"/>
              </a:rPr>
              <a:t>03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8026199" y="1427663"/>
            <a:ext cx="3632109" cy="4704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Sample real images and labels; generate fake images from noise and selected labels.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33387" y="2042716"/>
            <a:ext cx="841156" cy="223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750" b="1" dirty="0">
                <a:solidFill>
                  <a:srgbClr val="CB6351"/>
                </a:solidFill>
                <a:latin typeface="Gentium Book Plus Bold" pitchFamily="34" charset="0"/>
                <a:ea typeface="Gentium Book Plus Bold" pitchFamily="34" charset="-122"/>
                <a:cs typeface="Gentium Book Plus Bold" pitchFamily="34" charset="0"/>
              </a:rPr>
              <a:t>04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533387" y="2352779"/>
            <a:ext cx="3632109" cy="4704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Update the Discriminator on real and fake image–label pairs.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317892" y="2042716"/>
            <a:ext cx="841156" cy="223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750" b="1" dirty="0">
                <a:solidFill>
                  <a:srgbClr val="CB6351"/>
                </a:solidFill>
                <a:latin typeface="Gentium Book Plus Bold" pitchFamily="34" charset="0"/>
                <a:ea typeface="Gentium Book Plus Bold" pitchFamily="34" charset="-122"/>
                <a:cs typeface="Gentium Book Plus Bold" pitchFamily="34" charset="0"/>
              </a:rPr>
              <a:t>05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4317892" y="2352779"/>
            <a:ext cx="3555911" cy="4704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Update the Generator to improve realism and class alignment.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26199" y="2042716"/>
            <a:ext cx="841156" cy="223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750" b="1" dirty="0">
                <a:solidFill>
                  <a:srgbClr val="CB6351"/>
                </a:solidFill>
                <a:latin typeface="Gentium Book Plus Bold" pitchFamily="34" charset="0"/>
                <a:ea typeface="Gentium Book Plus Bold" pitchFamily="34" charset="-122"/>
                <a:cs typeface="Gentium Book Plus Bold" pitchFamily="34" charset="0"/>
              </a:rPr>
              <a:t>06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8026199" y="2352779"/>
            <a:ext cx="3632109" cy="4704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Record losses, save image grids, repeat for configured epochs, then evaluate.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33387" y="3002648"/>
            <a:ext cx="11124922" cy="1877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b="1" kern="100" spc="49" dirty="0">
                <a:solidFill>
                  <a:srgbClr val="FFFFFF"/>
                </a:solidFill>
                <a:latin typeface="Gentium Book Plus Bold" pitchFamily="34" charset="0"/>
                <a:ea typeface="Gentium Book Plus Bold" pitchFamily="34" charset="-122"/>
                <a:cs typeface="Gentium Book Plus Bold" pitchFamily="34" charset="0"/>
              </a:rPr>
              <a:t>EXPERIMENTAL CONFIGURATION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1217474"/>
              </p:ext>
            </p:extLst>
          </p:nvPr>
        </p:nvGraphicFramePr>
        <p:xfrm>
          <a:off x="533387" y="3295650"/>
          <a:ext cx="11124922" cy="2547674"/>
        </p:xfrm>
        <a:graphic>
          <a:graphicData uri="http://schemas.openxmlformats.org/drawingml/2006/table">
            <a:tbl>
              <a:tblPr/>
              <a:tblGrid>
                <a:gridCol w="42274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97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672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Gentium Book Plus" pitchFamily="34" charset="0"/>
                          <a:ea typeface="Gentium Book Plus" pitchFamily="34" charset="-122"/>
                          <a:cs typeface="Gentium Book Plus" pitchFamily="34" charset="0"/>
                        </a:rPr>
                        <a:t>Setting</a:t>
                      </a:r>
                      <a:endParaRPr lang="en-US" sz="1400" dirty="0">
                        <a:latin typeface="Gentium Book Plus" charset="0"/>
                        <a:ea typeface="Gentium Book Plus" charset="0"/>
                        <a:cs typeface="Gentium Book Plus" charset="0"/>
                      </a:endParaRPr>
                    </a:p>
                  </a:txBody>
                  <a:tcPr marL="167639" marR="167639" marT="89407" marB="89407" anchor="ctr">
                    <a:lnL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Gentium Book Plus" pitchFamily="34" charset="0"/>
                          <a:ea typeface="Gentium Book Plus" pitchFamily="34" charset="-122"/>
                          <a:cs typeface="Gentium Book Plus" pitchFamily="34" charset="0"/>
                        </a:rPr>
                        <a:t>Value</a:t>
                      </a:r>
                      <a:endParaRPr lang="en-US" sz="1400" dirty="0">
                        <a:latin typeface="Gentium Book Plus" charset="0"/>
                        <a:ea typeface="Gentium Book Plus" charset="0"/>
                        <a:cs typeface="Gentium Book Plus" charset="0"/>
                      </a:endParaRPr>
                    </a:p>
                  </a:txBody>
                  <a:tcPr marL="167639" marR="167639" marT="89407" marB="89407" anchor="ctr">
                    <a:lnL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Gentium Book Plus" pitchFamily="34" charset="0"/>
                          <a:ea typeface="Gentium Book Plus" pitchFamily="34" charset="-122"/>
                          <a:cs typeface="Gentium Book Plus" pitchFamily="34" charset="0"/>
                        </a:rPr>
                        <a:t>Latent dimension</a:t>
                      </a:r>
                      <a:endParaRPr lang="en-US" sz="1400" dirty="0">
                        <a:latin typeface="Gentium Book Plus" charset="0"/>
                        <a:ea typeface="Gentium Book Plus" charset="0"/>
                        <a:cs typeface="Gentium Book Plus" charset="0"/>
                      </a:endParaRPr>
                    </a:p>
                  </a:txBody>
                  <a:tcPr marL="167639" marR="167639" marT="89407" marB="89407" anchor="ctr">
                    <a:lnL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Gentium Book Plus" pitchFamily="34" charset="0"/>
                          <a:ea typeface="Gentium Book Plus" pitchFamily="34" charset="-122"/>
                          <a:cs typeface="Gentium Book Plus" pitchFamily="34" charset="0"/>
                        </a:rPr>
                        <a:t>100</a:t>
                      </a:r>
                      <a:endParaRPr lang="en-US" sz="1400" dirty="0">
                        <a:latin typeface="Gentium Book Plus" charset="0"/>
                        <a:ea typeface="Gentium Book Plus" charset="0"/>
                        <a:cs typeface="Gentium Book Plus" charset="0"/>
                      </a:endParaRPr>
                    </a:p>
                  </a:txBody>
                  <a:tcPr marL="167639" marR="167639" marT="89407" marB="89407" anchor="ctr">
                    <a:lnL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2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Gentium Book Plus" pitchFamily="34" charset="0"/>
                          <a:ea typeface="Gentium Book Plus" pitchFamily="34" charset="-122"/>
                          <a:cs typeface="Gentium Book Plus" pitchFamily="34" charset="0"/>
                        </a:rPr>
                        <a:t>Batch size</a:t>
                      </a:r>
                      <a:endParaRPr lang="en-US" sz="1400" dirty="0">
                        <a:latin typeface="Gentium Book Plus" charset="0"/>
                        <a:ea typeface="Gentium Book Plus" charset="0"/>
                        <a:cs typeface="Gentium Book Plus" charset="0"/>
                      </a:endParaRPr>
                    </a:p>
                  </a:txBody>
                  <a:tcPr marL="167639" marR="167639" marT="89407" marB="89407" anchor="ctr">
                    <a:lnL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Gentium Book Plus" pitchFamily="34" charset="0"/>
                          <a:ea typeface="Gentium Book Plus" pitchFamily="34" charset="-122"/>
                          <a:cs typeface="Gentium Book Plus" pitchFamily="34" charset="0"/>
                        </a:rPr>
                        <a:t>128</a:t>
                      </a:r>
                      <a:endParaRPr lang="en-US" sz="1400" dirty="0">
                        <a:latin typeface="Gentium Book Plus" charset="0"/>
                        <a:ea typeface="Gentium Book Plus" charset="0"/>
                        <a:cs typeface="Gentium Book Plus" charset="0"/>
                      </a:endParaRPr>
                    </a:p>
                  </a:txBody>
                  <a:tcPr marL="167639" marR="167639" marT="89407" marB="89407" anchor="ctr">
                    <a:lnL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2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Gentium Book Plus" pitchFamily="34" charset="0"/>
                          <a:ea typeface="Gentium Book Plus" pitchFamily="34" charset="-122"/>
                          <a:cs typeface="Gentium Book Plus" pitchFamily="34" charset="0"/>
                        </a:rPr>
                        <a:t>Epochs</a:t>
                      </a:r>
                      <a:endParaRPr lang="en-US" sz="1400" dirty="0">
                        <a:latin typeface="Gentium Book Plus" charset="0"/>
                        <a:ea typeface="Gentium Book Plus" charset="0"/>
                        <a:cs typeface="Gentium Book Plus" charset="0"/>
                      </a:endParaRPr>
                    </a:p>
                  </a:txBody>
                  <a:tcPr marL="167639" marR="167639" marT="89407" marB="89407" anchor="ctr">
                    <a:lnL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Gentium Book Plus" pitchFamily="34" charset="0"/>
                          <a:ea typeface="Gentium Book Plus" pitchFamily="34" charset="-122"/>
                          <a:cs typeface="Gentium Book Plus" pitchFamily="34" charset="0"/>
                        </a:rPr>
                        <a:t>12</a:t>
                      </a:r>
                      <a:endParaRPr lang="en-US" sz="1400" dirty="0">
                        <a:latin typeface="Gentium Book Plus" charset="0"/>
                        <a:ea typeface="Gentium Book Plus" charset="0"/>
                        <a:cs typeface="Gentium Book Plus" charset="0"/>
                      </a:endParaRPr>
                    </a:p>
                  </a:txBody>
                  <a:tcPr marL="167639" marR="167639" marT="89407" marB="89407" anchor="ctr">
                    <a:lnL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72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Gentium Book Plus" pitchFamily="34" charset="0"/>
                          <a:ea typeface="Gentium Book Plus" pitchFamily="34" charset="-122"/>
                          <a:cs typeface="Gentium Book Plus" pitchFamily="34" charset="0"/>
                        </a:rPr>
                        <a:t>Optimizer / learning rate</a:t>
                      </a:r>
                      <a:endParaRPr lang="en-US" sz="1400" dirty="0">
                        <a:latin typeface="Gentium Book Plus" charset="0"/>
                        <a:ea typeface="Gentium Book Plus" charset="0"/>
                        <a:cs typeface="Gentium Book Plus" charset="0"/>
                      </a:endParaRPr>
                    </a:p>
                  </a:txBody>
                  <a:tcPr marL="167639" marR="167639" marT="89407" marB="89407" anchor="ctr">
                    <a:lnL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Gentium Book Plus" pitchFamily="34" charset="0"/>
                          <a:ea typeface="Gentium Book Plus" pitchFamily="34" charset="-122"/>
                          <a:cs typeface="Gentium Book Plus" pitchFamily="34" charset="0"/>
                        </a:rPr>
                        <a:t>Adam/0.0002</a:t>
                      </a:r>
                      <a:endParaRPr lang="en-US" sz="1400" dirty="0">
                        <a:latin typeface="Gentium Book Plus" charset="0"/>
                        <a:ea typeface="Gentium Book Plus" charset="0"/>
                        <a:cs typeface="Gentium Book Plus" charset="0"/>
                      </a:endParaRPr>
                    </a:p>
                  </a:txBody>
                  <a:tcPr marL="167639" marR="167639" marT="89407" marB="89407" anchor="ctr">
                    <a:lnL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402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Gentium Book Plus" pitchFamily="34" charset="0"/>
                          <a:ea typeface="Gentium Book Plus" pitchFamily="34" charset="-122"/>
                          <a:cs typeface="Gentium Book Plus" pitchFamily="34" charset="0"/>
                        </a:rPr>
                        <a:t>Hardware</a:t>
                      </a:r>
                      <a:endParaRPr lang="en-US" sz="1400" dirty="0">
                        <a:latin typeface="Gentium Book Plus" charset="0"/>
                        <a:ea typeface="Gentium Book Plus" charset="0"/>
                        <a:cs typeface="Gentium Book Plus" charset="0"/>
                      </a:endParaRPr>
                    </a:p>
                  </a:txBody>
                  <a:tcPr marL="167639" marR="167639" marT="89407" marB="89407" anchor="ctr">
                    <a:lnL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Gentium Book Plus" pitchFamily="34" charset="0"/>
                          <a:ea typeface="Gentium Book Plus" pitchFamily="34" charset="-122"/>
                          <a:cs typeface="Gentium Book Plus" pitchFamily="34" charset="0"/>
                        </a:rPr>
                        <a:t>NVIDIA T4 GPU</a:t>
                      </a:r>
                      <a:endParaRPr lang="en-US" sz="1400" dirty="0">
                        <a:latin typeface="Gentium Book Plus" charset="0"/>
                        <a:ea typeface="Gentium Book Plus" charset="0"/>
                        <a:cs typeface="Gentium Book Plus" charset="0"/>
                      </a:endParaRPr>
                    </a:p>
                  </a:txBody>
                  <a:tcPr marL="167639" marR="167639" marT="89407" marB="89407" anchor="ctr">
                    <a:lnL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533387" y="5965178"/>
            <a:ext cx="11124922" cy="2033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50" kern="100" spc="12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Losses are recorded and image grids are saved across configured epochs.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33387" y="6349494"/>
            <a:ext cx="11124922" cy="1877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b="1" kern="100" spc="49" dirty="0">
                <a:solidFill>
                  <a:srgbClr val="FFFFFF"/>
                </a:solidFill>
                <a:latin typeface="Gentium Book Plus Bold" pitchFamily="34" charset="0"/>
                <a:ea typeface="Gentium Book Plus Bold" pitchFamily="34" charset="-122"/>
                <a:cs typeface="Gentium Book Plus Bold" pitchFamily="34" charset="0"/>
              </a:rPr>
              <a:t>END-TO-END FLOW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533387" y="6650340"/>
            <a:ext cx="11124922" cy="235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Dataset → Preprocessing → Label Conditioning → G/D Training → Evaluation → Generated Images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92" y="112479"/>
            <a:ext cx="11886903" cy="196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kern="100" spc="52" dirty="0">
                <a:solidFill>
                  <a:srgbClr val="FFFFFF"/>
                </a:solidFill>
                <a:latin typeface="Gentium Book Plus Bold" pitchFamily="34" charset="0"/>
                <a:ea typeface="Gentium Book Plus Bold" pitchFamily="34" charset="-122"/>
                <a:cs typeface="Gentium Book Plus Bold" pitchFamily="34" charset="0"/>
              </a:rPr>
              <a:t>05 · EVIDENCE GATE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04792" y="408272"/>
            <a:ext cx="11582110" cy="10467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93000"/>
              </a:lnSpc>
              <a:buNone/>
            </a:pPr>
            <a:r>
              <a:rPr lang="en-US" sz="3700" b="1" kern="100" spc="-18" dirty="0">
                <a:solidFill>
                  <a:srgbClr val="FFFFFF"/>
                </a:solidFill>
                <a:latin typeface="Libre Caslon Text Bold" pitchFamily="34" charset="0"/>
                <a:ea typeface="Libre Caslon Text Bold" pitchFamily="34" charset="-122"/>
                <a:cs typeface="Libre Caslon Text Bold" pitchFamily="34" charset="0"/>
              </a:rPr>
              <a:t>Experimental evidence must come from the trained model</a:t>
            </a:r>
            <a:endParaRPr lang="en-US" sz="3700" dirty="0"/>
          </a:p>
        </p:txBody>
      </p:sp>
      <p:sp>
        <p:nvSpPr>
          <p:cNvPr id="4" name="Text 2"/>
          <p:cNvSpPr/>
          <p:nvPr/>
        </p:nvSpPr>
        <p:spPr>
          <a:xfrm>
            <a:off x="304792" y="1652657"/>
            <a:ext cx="11886903" cy="3140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Keep these panels as placeholders until run artifacts exist; make no success claims before training evidence exists.</a:t>
            </a:r>
            <a:endParaRPr lang="en-US" sz="1850" dirty="0"/>
          </a:p>
        </p:txBody>
      </p:sp>
      <p:sp>
        <p:nvSpPr>
          <p:cNvPr id="5" name="Shape 3"/>
          <p:cNvSpPr/>
          <p:nvPr/>
        </p:nvSpPr>
        <p:spPr>
          <a:xfrm>
            <a:off x="304792" y="2152848"/>
            <a:ext cx="3657509" cy="2291854"/>
          </a:xfrm>
          <a:prstGeom prst="roundRect">
            <a:avLst>
              <a:gd name="adj" fmla="val 4282"/>
            </a:avLst>
          </a:prstGeom>
          <a:solidFill>
            <a:srgbClr val="111A2E"/>
          </a:solidFill>
          <a:ln w="25399">
            <a:solidFill>
              <a:srgbClr val="C2BBA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2588" y="2305248"/>
            <a:ext cx="1375832" cy="327025"/>
          </a:xfrm>
          <a:prstGeom prst="roundRect">
            <a:avLst>
              <a:gd name="adj" fmla="val 24008"/>
            </a:avLst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2781" y="2400000"/>
            <a:ext cx="1705032" cy="1869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450" b="1" kern="100" spc="15" dirty="0">
                <a:solidFill>
                  <a:srgbClr val="FFFFFF"/>
                </a:solidFill>
                <a:latin typeface="Gentium Book Plus Bold" pitchFamily="34" charset="0"/>
                <a:ea typeface="Gentium Book Plus Bold" pitchFamily="34" charset="-122"/>
                <a:cs typeface="Gentium Book Plus Bold" pitchFamily="34" charset="0"/>
              </a:rPr>
              <a:t>EVIDENCE 01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82588" y="2727078"/>
            <a:ext cx="3301917" cy="364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Generated digit grid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82588" y="3247029"/>
            <a:ext cx="3479713" cy="2512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50" dirty="0">
                <a:solidFill>
                  <a:srgbClr val="FFB86B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[INSERT ACTUAL GENERATED DIGIT GRID]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82588" y="3624581"/>
            <a:ext cx="3479713" cy="2126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kern="100" spc="13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Cover labels 0–9 with several samples per class.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67093" y="2152848"/>
            <a:ext cx="3657509" cy="2291854"/>
          </a:xfrm>
          <a:prstGeom prst="roundRect">
            <a:avLst>
              <a:gd name="adj" fmla="val 4282"/>
            </a:avLst>
          </a:prstGeom>
          <a:solidFill>
            <a:srgbClr val="111A2E"/>
          </a:solidFill>
          <a:ln w="25399">
            <a:solidFill>
              <a:srgbClr val="C2BBA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4889" y="2305248"/>
            <a:ext cx="1375832" cy="327025"/>
          </a:xfrm>
          <a:prstGeom prst="roundRect">
            <a:avLst>
              <a:gd name="adj" fmla="val 24008"/>
            </a:avLst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85081" y="2400000"/>
            <a:ext cx="1705032" cy="1869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450" b="1" kern="100" spc="15" dirty="0">
                <a:solidFill>
                  <a:srgbClr val="FFFFFF"/>
                </a:solidFill>
                <a:latin typeface="Gentium Book Plus Bold" pitchFamily="34" charset="0"/>
                <a:ea typeface="Gentium Book Plus Bold" pitchFamily="34" charset="-122"/>
                <a:cs typeface="Gentium Book Plus Bold" pitchFamily="34" charset="0"/>
              </a:rPr>
              <a:t>EVIDENCE 02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444889" y="2727078"/>
            <a:ext cx="3301917" cy="364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Training loss curves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444889" y="3247029"/>
            <a:ext cx="3301917" cy="502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50" dirty="0">
                <a:solidFill>
                  <a:srgbClr val="FFB86B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[INSERT ACTUAL TRAINING LOSS CURVES]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44889" y="3875803"/>
            <a:ext cx="3301917" cy="425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kern="100" spc="13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Show Generator and Discriminator losses over time.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394" y="2152848"/>
            <a:ext cx="3657509" cy="2291854"/>
          </a:xfrm>
          <a:prstGeom prst="roundRect">
            <a:avLst>
              <a:gd name="adj" fmla="val 4282"/>
            </a:avLst>
          </a:prstGeom>
          <a:solidFill>
            <a:srgbClr val="111A2E"/>
          </a:solidFill>
          <a:ln w="25399">
            <a:solidFill>
              <a:srgbClr val="C2BBA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07190" y="2305248"/>
            <a:ext cx="1375832" cy="327025"/>
          </a:xfrm>
          <a:prstGeom prst="roundRect">
            <a:avLst>
              <a:gd name="adj" fmla="val 24008"/>
            </a:avLst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47382" y="2400000"/>
            <a:ext cx="1705032" cy="1869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450" b="1" kern="100" spc="15" dirty="0">
                <a:solidFill>
                  <a:srgbClr val="FFFFFF"/>
                </a:solidFill>
                <a:latin typeface="Gentium Book Plus Bold" pitchFamily="34" charset="0"/>
                <a:ea typeface="Gentium Book Plus Bold" pitchFamily="34" charset="-122"/>
                <a:cs typeface="Gentium Book Plus Bold" pitchFamily="34" charset="0"/>
              </a:rPr>
              <a:t>EVIDENCE 03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407190" y="2727078"/>
            <a:ext cx="3301917" cy="364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Epoch-wise comparison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407190" y="3247029"/>
            <a:ext cx="3301917" cy="502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50" dirty="0">
                <a:solidFill>
                  <a:srgbClr val="FFB86B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[INSERT ACTUAL EPOCH-WISE COMPARISON]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407190" y="3875803"/>
            <a:ext cx="3479713" cy="2126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kern="100" spc="13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Compare selected epochs, if available.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04792" y="4749502"/>
            <a:ext cx="11582110" cy="2291854"/>
          </a:xfrm>
          <a:prstGeom prst="roundRect">
            <a:avLst>
              <a:gd name="adj" fmla="val 4282"/>
            </a:avLst>
          </a:prstGeom>
          <a:solidFill>
            <a:srgbClr val="111A2E"/>
          </a:solidFill>
          <a:ln w="25399">
            <a:solidFill>
              <a:srgbClr val="C2BBA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7987" y="4901902"/>
            <a:ext cx="1375832" cy="327025"/>
          </a:xfrm>
          <a:prstGeom prst="roundRect">
            <a:avLst>
              <a:gd name="adj" fmla="val 24008"/>
            </a:avLst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8180" y="4996654"/>
            <a:ext cx="1705032" cy="1869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450" b="1" kern="100" spc="15" dirty="0">
                <a:solidFill>
                  <a:srgbClr val="FFFFFF"/>
                </a:solidFill>
                <a:latin typeface="Gentium Book Plus Bold" pitchFamily="34" charset="0"/>
                <a:ea typeface="Gentium Book Plus Bold" pitchFamily="34" charset="-122"/>
                <a:cs typeface="Gentium Book Plus Bold" pitchFamily="34" charset="0"/>
              </a:rPr>
              <a:t>EVIDENCE 04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507987" y="5323732"/>
            <a:ext cx="11175720" cy="364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Observations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07987" y="5842268"/>
            <a:ext cx="11175720" cy="6280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Visual recognizability: [actual observation] · Class-specific generation: [actual observation] · Diversity: [actual observation] · Stability: [actual observation]</a:t>
            </a:r>
            <a:endParaRPr lang="en-US" sz="1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3387" y="247054"/>
            <a:ext cx="11124922" cy="910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3000"/>
              </a:lnSpc>
              <a:buNone/>
            </a:pPr>
            <a:r>
              <a:rPr lang="en-US" sz="3200" b="1" kern="100" spc="-16" dirty="0">
                <a:solidFill>
                  <a:srgbClr val="FFFFFF"/>
                </a:solidFill>
                <a:latin typeface="Libre Caslon Text Bold" pitchFamily="34" charset="0"/>
                <a:ea typeface="Libre Caslon Text Bold" pitchFamily="34" charset="-122"/>
                <a:cs typeface="Libre Caslon Text Bold" pitchFamily="34" charset="0"/>
              </a:rPr>
              <a:t>Evaluation separates class control from image realism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33387" y="1392833"/>
            <a:ext cx="5410065" cy="5070277"/>
          </a:xfrm>
          <a:prstGeom prst="roundRect">
            <a:avLst>
              <a:gd name="adj" fmla="val 2104"/>
            </a:avLst>
          </a:prstGeom>
          <a:solidFill>
            <a:srgbClr val="111A2E"/>
          </a:solidFill>
          <a:ln/>
        </p:spPr>
      </p:sp>
      <p:sp>
        <p:nvSpPr>
          <p:cNvPr id="4" name="Shape 2"/>
          <p:cNvSpPr/>
          <p:nvPr/>
        </p:nvSpPr>
        <p:spPr>
          <a:xfrm>
            <a:off x="812780" y="1545233"/>
            <a:ext cx="1796807" cy="355402"/>
          </a:xfrm>
          <a:prstGeom prst="roundRect">
            <a:avLst>
              <a:gd name="adj" fmla="val 24013"/>
            </a:avLst>
          </a:prstGeom>
          <a:solidFill>
            <a:srgbClr val="3B1812"/>
          </a:solidFill>
          <a:ln/>
        </p:spPr>
      </p:sp>
      <p:sp>
        <p:nvSpPr>
          <p:cNvPr id="5" name="Text 3"/>
          <p:cNvSpPr/>
          <p:nvPr/>
        </p:nvSpPr>
        <p:spPr>
          <a:xfrm>
            <a:off x="965077" y="1641971"/>
            <a:ext cx="2101797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600" b="1" kern="100" spc="16" dirty="0">
                <a:solidFill>
                  <a:srgbClr val="FFFFFF"/>
                </a:solidFill>
                <a:latin typeface="Gentium Book Plus Bold" pitchFamily="34" charset="0"/>
                <a:ea typeface="Gentium Book Plus Bold" pitchFamily="34" charset="-122"/>
                <a:cs typeface="Gentium Book Plus Bold" pitchFamily="34" charset="0"/>
              </a:rPr>
              <a:t>CLASS CONTROL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12780" y="2049859"/>
            <a:ext cx="4851279" cy="2432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spcAft>
                <a:spcPts val="115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Inspect generated grids and loss curves qualitatively.</a:t>
            </a:r>
            <a:endParaRPr lang="en-US" sz="2000" dirty="0"/>
          </a:p>
          <a:p>
            <a:pPr marL="0" indent="0" algn="l">
              <a:lnSpc>
                <a:spcPct val="117000"/>
              </a:lnSpc>
              <a:spcAft>
                <a:spcPts val="115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Measure class consistency with a separately trained and validated MNIST classifier.</a:t>
            </a:r>
            <a:endParaRPr lang="en-US" sz="20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2000" b="1" dirty="0">
                <a:solidFill>
                  <a:srgbClr val="7DE2B2"/>
                </a:solidFill>
                <a:latin typeface="Gentium Book Plus Bold" pitchFamily="34" charset="0"/>
                <a:ea typeface="Gentium Book Plus Bold" pitchFamily="34" charset="-122"/>
                <a:cs typeface="Gentium Book Plus Bold" pitchFamily="34" charset="0"/>
              </a:rPr>
              <a:t>Class consistency:</a:t>
            </a:r>
            <a:r>
              <a:rPr lang="en-US" sz="20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 requested-label matches ÷ generated samples.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48244" y="1392833"/>
            <a:ext cx="5410065" cy="5070277"/>
          </a:xfrm>
          <a:prstGeom prst="roundRect">
            <a:avLst>
              <a:gd name="adj" fmla="val 2104"/>
            </a:avLst>
          </a:prstGeom>
          <a:solidFill>
            <a:srgbClr val="111A2E"/>
          </a:solidFill>
          <a:ln w="25399">
            <a:solidFill>
              <a:srgbClr val="C2BBA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53036" y="1570633"/>
            <a:ext cx="2510668" cy="355402"/>
          </a:xfrm>
          <a:prstGeom prst="roundRect">
            <a:avLst>
              <a:gd name="adj" fmla="val 24013"/>
            </a:avLst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05333" y="1667371"/>
            <a:ext cx="2815658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600" b="1" kern="100" spc="16" dirty="0">
                <a:solidFill>
                  <a:srgbClr val="FFFFFF"/>
                </a:solidFill>
                <a:latin typeface="Gentium Book Plus Bold" pitchFamily="34" charset="0"/>
                <a:ea typeface="Gentium Book Plus Bold" pitchFamily="34" charset="-122"/>
                <a:cs typeface="Gentium Book Plus Bold" pitchFamily="34" charset="0"/>
              </a:rPr>
              <a:t>REALISM &amp; NEXT SCOPE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53036" y="2075259"/>
            <a:ext cx="4800480" cy="421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17000"/>
              </a:lnSpc>
              <a:spcAft>
                <a:spcPts val="115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Use FID only if implemented appropriately; class consistency alone does not prove realism.</a:t>
            </a:r>
            <a:endParaRPr lang="en-US" sz="2000" dirty="0"/>
          </a:p>
          <a:p>
            <a:pPr marL="0" indent="0" algn="l">
              <a:lnSpc>
                <a:spcPct val="117000"/>
              </a:lnSpc>
              <a:spcAft>
                <a:spcPts val="115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Gentium Book Plus Bold" pitchFamily="34" charset="0"/>
                <a:ea typeface="Gentium Book Plus Bold" pitchFamily="34" charset="-122"/>
                <a:cs typeface="Gentium Book Plus Bold" pitchFamily="34" charset="0"/>
              </a:rPr>
              <a:t>Limitations:</a:t>
            </a:r>
            <a:r>
              <a:rPr lang="en-US" sz="20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 28 × 28 grayscale scope; unstable GAN training; possible mode collapse; artifacts; incomplete quality coverage.</a:t>
            </a:r>
            <a:endParaRPr lang="en-US" sz="20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Gentium Book Plus Bold" pitchFamily="34" charset="0"/>
                <a:ea typeface="Gentium Book Plus Bold" pitchFamily="34" charset="-122"/>
                <a:cs typeface="Gentium Book Plus Bold" pitchFamily="34" charset="0"/>
              </a:rPr>
              <a:t>Conclusion:</a:t>
            </a:r>
            <a:r>
              <a:rPr lang="en-US" sz="20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 cGAN conditions both networks on labels. Evaluate actual outputs, then consider Fashion-MNIST, WGAN-GP, and more complex datasets.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08627" cy="6893520"/>
          </a:xfrm>
          <a:prstGeom prst="rect">
            <a:avLst/>
          </a:prstGeom>
          <a:solidFill>
            <a:srgbClr val="111A2E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380990" y="406804"/>
            <a:ext cx="6146646" cy="1137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3000"/>
              </a:lnSpc>
              <a:buNone/>
            </a:pPr>
            <a:r>
              <a:rPr lang="en-US" sz="4000" b="1" kern="100" spc="-20" dirty="0">
                <a:solidFill>
                  <a:srgbClr val="FFFFFF"/>
                </a:solidFill>
                <a:latin typeface="Libre Caslon Text Bold" pitchFamily="34" charset="0"/>
                <a:ea typeface="Libre Caslon Text Bold" pitchFamily="34" charset="-122"/>
                <a:cs typeface="Libre Caslon Text Bold" pitchFamily="34" charset="0"/>
              </a:rPr>
              <a:t>Repository, references, and questions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80990" y="1757918"/>
            <a:ext cx="6146646" cy="396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GitHub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80990" y="2329359"/>
            <a:ext cx="6527637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80990" y="3128824"/>
            <a:ext cx="6146646" cy="396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Repository contents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80990" y="3698994"/>
            <a:ext cx="6146646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CA2_cGAN_MNIST.ipynb · README.md · CA-2 presentation · actual experimental outputs.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80990" y="4713048"/>
            <a:ext cx="6146646" cy="8573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Gentium Book Plus" pitchFamily="34" charset="0"/>
                <a:ea typeface="Gentium Book Plus" pitchFamily="34" charset="-122"/>
                <a:cs typeface="Gentium Book Plus" pitchFamily="34" charset="0"/>
              </a:rPr>
              <a:t>Thank You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289618" y="394335"/>
            <a:ext cx="4902077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kern="100" spc="56" dirty="0">
                <a:solidFill>
                  <a:srgbClr val="FFFFFF"/>
                </a:solidFill>
                <a:latin typeface="Gentium Book Plus Bold" pitchFamily="34" charset="0"/>
                <a:ea typeface="Gentium Book Plus Bold" pitchFamily="34" charset="-122"/>
                <a:cs typeface="Gentium Book Plus Bold" pitchFamily="34" charset="0"/>
              </a:rPr>
              <a:t>REFERENCES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89618" y="822920"/>
          <a:ext cx="4521087" cy="5689458"/>
        </p:xfrm>
        <a:graphic>
          <a:graphicData uri="http://schemas.openxmlformats.org/drawingml/2006/table">
            <a:tbl>
              <a:tblPr/>
              <a:tblGrid>
                <a:gridCol w="11754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5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148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FFFFFF"/>
                          </a:solidFill>
                          <a:latin typeface="Gentium Book Plus" pitchFamily="34" charset="0"/>
                          <a:ea typeface="Gentium Book Plus" pitchFamily="34" charset="-122"/>
                          <a:cs typeface="Gentium Book Plus" pitchFamily="34" charset="0"/>
                        </a:rPr>
                        <a:t>Source</a:t>
                      </a:r>
                      <a:endParaRPr lang="en-US" sz="2000" dirty="0">
                        <a:latin typeface="Gentium Book Plus" charset="0"/>
                        <a:ea typeface="Gentium Book Plus" charset="0"/>
                        <a:cs typeface="Gentium Book Plus" charset="0"/>
                      </a:endParaRPr>
                    </a:p>
                  </a:txBody>
                  <a:tcPr marL="190495" marR="190495" marT="101598" marB="101598" anchor="ctr">
                    <a:lnL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FFFFFF"/>
                          </a:solidFill>
                          <a:latin typeface="Gentium Book Plus" pitchFamily="34" charset="0"/>
                          <a:ea typeface="Gentium Book Plus" pitchFamily="34" charset="-122"/>
                          <a:cs typeface="Gentium Book Plus" pitchFamily="34" charset="0"/>
                        </a:rPr>
                        <a:t>Reference</a:t>
                      </a:r>
                      <a:endParaRPr lang="en-US" sz="2000" dirty="0">
                        <a:latin typeface="Gentium Book Plus" charset="0"/>
                        <a:ea typeface="Gentium Book Plus" charset="0"/>
                        <a:cs typeface="Gentium Book Plus" charset="0"/>
                      </a:endParaRPr>
                    </a:p>
                  </a:txBody>
                  <a:tcPr marL="190495" marR="190495" marT="101598" marB="101598" anchor="ctr">
                    <a:lnL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826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FFFFFF"/>
                          </a:solidFill>
                          <a:latin typeface="Gentium Book Plus" pitchFamily="34" charset="0"/>
                          <a:ea typeface="Gentium Book Plus" pitchFamily="34" charset="-122"/>
                          <a:cs typeface="Gentium Book Plus" pitchFamily="34" charset="0"/>
                        </a:rPr>
                        <a:t>GAN</a:t>
                      </a:r>
                      <a:endParaRPr lang="en-US" sz="2000" dirty="0">
                        <a:latin typeface="Gentium Book Plus" charset="0"/>
                        <a:ea typeface="Gentium Book Plus" charset="0"/>
                        <a:cs typeface="Gentium Book Plus" charset="0"/>
                      </a:endParaRPr>
                    </a:p>
                  </a:txBody>
                  <a:tcPr marL="190495" marR="190495" marT="101598" marB="101598" anchor="ctr">
                    <a:lnL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FFFFFF"/>
                          </a:solidFill>
                          <a:latin typeface="Gentium Book Plus" pitchFamily="34" charset="0"/>
                          <a:ea typeface="Gentium Book Plus" pitchFamily="34" charset="-122"/>
                          <a:cs typeface="Gentium Book Plus" pitchFamily="34" charset="0"/>
                        </a:rPr>
                        <a:t>Goodfellow et al., “Generative Adversarial Nets,” NeurIPS, 2014</a:t>
                      </a:r>
                      <a:endParaRPr lang="en-US" sz="2000" dirty="0">
                        <a:latin typeface="Gentium Book Plus" charset="0"/>
                        <a:ea typeface="Gentium Book Plus" charset="0"/>
                        <a:cs typeface="Gentium Book Plus" charset="0"/>
                      </a:endParaRPr>
                    </a:p>
                  </a:txBody>
                  <a:tcPr marL="190495" marR="190495" marT="101598" marB="101598" anchor="ctr">
                    <a:lnL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826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FFFFFF"/>
                          </a:solidFill>
                          <a:latin typeface="Gentium Book Plus" pitchFamily="34" charset="0"/>
                          <a:ea typeface="Gentium Book Plus" pitchFamily="34" charset="-122"/>
                          <a:cs typeface="Gentium Book Plus" pitchFamily="34" charset="0"/>
                        </a:rPr>
                        <a:t>cGAN</a:t>
                      </a:r>
                      <a:endParaRPr lang="en-US" sz="2000" dirty="0">
                        <a:latin typeface="Gentium Book Plus" charset="0"/>
                        <a:ea typeface="Gentium Book Plus" charset="0"/>
                        <a:cs typeface="Gentium Book Plus" charset="0"/>
                      </a:endParaRPr>
                    </a:p>
                  </a:txBody>
                  <a:tcPr marL="190495" marR="190495" marT="101598" marB="101598" anchor="ctr">
                    <a:lnL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FFFFFF"/>
                          </a:solidFill>
                          <a:latin typeface="Gentium Book Plus" pitchFamily="34" charset="0"/>
                          <a:ea typeface="Gentium Book Plus" pitchFamily="34" charset="-122"/>
                          <a:cs typeface="Gentium Book Plus" pitchFamily="34" charset="0"/>
                        </a:rPr>
                        <a:t>Mirza and Osindero, “Conditional Generative Adversarial Nets,” 2014</a:t>
                      </a:r>
                      <a:endParaRPr lang="en-US" sz="2000" dirty="0">
                        <a:latin typeface="Gentium Book Plus" charset="0"/>
                        <a:ea typeface="Gentium Book Plus" charset="0"/>
                        <a:cs typeface="Gentium Book Plus" charset="0"/>
                      </a:endParaRPr>
                    </a:p>
                  </a:txBody>
                  <a:tcPr marL="190495" marR="190495" marT="101598" marB="101598" anchor="ctr">
                    <a:lnL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826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FFFFFF"/>
                          </a:solidFill>
                          <a:latin typeface="Gentium Book Plus" pitchFamily="34" charset="0"/>
                          <a:ea typeface="Gentium Book Plus" pitchFamily="34" charset="-122"/>
                          <a:cs typeface="Gentium Book Plus" pitchFamily="34" charset="0"/>
                        </a:rPr>
                        <a:t>MNIST</a:t>
                      </a:r>
                      <a:endParaRPr lang="en-US" sz="2000" dirty="0">
                        <a:latin typeface="Gentium Book Plus" charset="0"/>
                        <a:ea typeface="Gentium Book Plus" charset="0"/>
                        <a:cs typeface="Gentium Book Plus" charset="0"/>
                      </a:endParaRPr>
                    </a:p>
                  </a:txBody>
                  <a:tcPr marL="190495" marR="190495" marT="101598" marB="101598" anchor="ctr">
                    <a:lnL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FFFFFF"/>
                          </a:solidFill>
                          <a:latin typeface="Gentium Book Plus" pitchFamily="34" charset="0"/>
                          <a:ea typeface="Gentium Book Plus" pitchFamily="34" charset="-122"/>
                          <a:cs typeface="Gentium Book Plus" pitchFamily="34" charset="0"/>
                        </a:rPr>
                        <a:t>LeCun, Cortes and Burges, “The MNIST Database of Handwritten Digits”</a:t>
                      </a:r>
                      <a:endParaRPr lang="en-US" sz="2000" dirty="0">
                        <a:latin typeface="Gentium Book Plus" charset="0"/>
                        <a:ea typeface="Gentium Book Plus" charset="0"/>
                        <a:cs typeface="Gentium Book Plus" charset="0"/>
                      </a:endParaRPr>
                    </a:p>
                  </a:txBody>
                  <a:tcPr marL="190495" marR="190495" marT="101598" marB="101598" anchor="ctr">
                    <a:lnL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699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FFFFFF"/>
                          </a:solidFill>
                          <a:latin typeface="Gentium Book Plus" pitchFamily="34" charset="0"/>
                          <a:ea typeface="Gentium Book Plus" pitchFamily="34" charset="-122"/>
                          <a:cs typeface="Gentium Book Plus" pitchFamily="34" charset="0"/>
                        </a:rPr>
                        <a:t>Tools</a:t>
                      </a:r>
                      <a:endParaRPr lang="en-US" sz="2000" dirty="0">
                        <a:latin typeface="Gentium Book Plus" charset="0"/>
                        <a:ea typeface="Gentium Book Plus" charset="0"/>
                        <a:cs typeface="Gentium Book Plus" charset="0"/>
                      </a:endParaRPr>
                    </a:p>
                  </a:txBody>
                  <a:tcPr marL="190495" marR="190495" marT="101598" marB="101598" anchor="ctr">
                    <a:lnL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FFFFFF"/>
                          </a:solidFill>
                          <a:latin typeface="Gentium Book Plus" pitchFamily="34" charset="0"/>
                          <a:ea typeface="Gentium Book Plus" pitchFamily="34" charset="-122"/>
                          <a:cs typeface="Gentium Book Plus" pitchFamily="34" charset="0"/>
                        </a:rPr>
                        <a:t>Official PyTorch and Torchvision MNIST documentation</a:t>
                      </a:r>
                      <a:endParaRPr lang="en-US" sz="2000" dirty="0">
                        <a:latin typeface="Gentium Book Plus" charset="0"/>
                        <a:ea typeface="Gentium Book Plus" charset="0"/>
                        <a:cs typeface="Gentium Book Plus" charset="0"/>
                      </a:endParaRPr>
                    </a:p>
                  </a:txBody>
                  <a:tcPr marL="190495" marR="190495" marT="101598" marB="101598" anchor="ctr">
                    <a:lnL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0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3B050BAE-DF8B-1593-67FD-29CCDAFB2760}"/>
              </a:ext>
            </a:extLst>
          </p:cNvPr>
          <p:cNvSpPr txBox="1"/>
          <p:nvPr/>
        </p:nvSpPr>
        <p:spPr>
          <a:xfrm>
            <a:off x="223935" y="2230016"/>
            <a:ext cx="63037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https://github.com/Priyanshu-PJ/CA2-Conditional-Image-Generation-cGAN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</TotalTime>
  <Words>854</Words>
  <Application>Microsoft Office PowerPoint</Application>
  <PresentationFormat>Widescreen</PresentationFormat>
  <Paragraphs>132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Gentium Book Plus Bold</vt:lpstr>
      <vt:lpstr>Calibri</vt:lpstr>
      <vt:lpstr>Libre Caslon Text</vt:lpstr>
      <vt:lpstr>Calibri Light</vt:lpstr>
      <vt:lpstr>Gentium Book Plus</vt:lpstr>
      <vt:lpstr>Arial</vt:lpstr>
      <vt:lpstr>Libre Caslon Text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Priyanshu Jaiswal</cp:lastModifiedBy>
  <cp:revision>5</cp:revision>
  <dcterms:created xsi:type="dcterms:W3CDTF">2026-10-28T16:03:28Z</dcterms:created>
  <dcterms:modified xsi:type="dcterms:W3CDTF">2026-10-28T19:30:32Z</dcterms:modified>
</cp:coreProperties>
</file>